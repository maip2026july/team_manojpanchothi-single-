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product review, not a project report. The ask at the end is a pilot decision on five campuses. The platform already runs the operational day; what is being decided is the AI layer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 drag in an education network is paid in student experience — blocked class access, unresolved facility problems, exam-day failures. Adding headcount to read reports scales cost linearly with campuses, which is the economics we are trying to escape.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roles, a real cut-off time, a real sign-off deadline. This is not a generic persona — it is the workflow the platform already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AI in this platform: language AI that reads and drafts, and optimisation AI that searches and places — exam seating is constraint satisfaction, not a language model. They fail in completely different ways and need different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is intentionally narrow because the binding risk is trust and workflow fit, not model capability. A wider MVP gives a more impressive demo and a less trustworthy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refusals matter more than the approvals. Cost of error was added as a scoring dimension alongside value and effort, and it is what moved these two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roadmap with dates invites the question of whether dates slipped. A roadmap with gates invites the question of whether thresholds were met, which is the conversation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mock-up. Live at uniconnect-app.up.railway.app, public repository, 66 captioned screens in the appendix. The advantage is real workflow fit; the obligation is precision about what is live and what is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truth is built three ways: implicit labels from every reviewer decision, a stratified sample of thirty reports labelled independently each week, and correction labels from overrides. Rubric versioned alongside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is internal, so the test is an internal value case — stricter than an external product, because there is no revenue line to hide behind. Key-person dependency on one builder is the most serious operational risk in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blockers are absolute: any cross-campus exposure, ungrounded statements above five per cent, recall below 0.90, no data-minimisation step, no one-flag rollback, or any proposal to use this for staff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recommendation, not the demo. State the stopping conditions as confidently as the reasons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63F"/>
        </a:solidFill>
      </p:bgPr>
    </p:bg>
    <p:spTree>
      <p:nvGrpSpPr>
        <p:cNvPr id="1" name=""/>
        <p:cNvGrpSpPr/>
        <p:nvPr/>
      </p:nvGrpSpPr>
      <p:grpSpPr>
        <a:xfrm>
          <a:off x="0" y="0"/>
          <a:ext cx="0" cy="0"/>
          <a:chOff x="0" y="0"/>
          <a:chExt cx="0" cy="0"/>
        </a:xfrm>
      </p:grpSpPr>
      <p:sp>
        <p:nvSpPr>
          <p:cNvPr id="2" name="Text 0"/>
          <p:cNvSpPr txBox="1"/>
          <p:nvPr/>
        </p:nvSpPr>
        <p:spPr>
          <a:xfrm>
            <a:off x="502920" y="1143000"/>
            <a:ext cx="8138160" cy="274320"/>
          </a:xfrm>
          <a:prstGeom prst="rect">
            <a:avLst/>
          </a:prstGeom>
          <a:noFill/>
          <a:ln/>
        </p:spPr>
        <p:txBody>
          <a:bodyPr wrap="square" rtlCol="0" anchor="ctr"/>
          <a:lstStyle/>
          <a:p>
            <a:pPr indent="0" marL="0">
              <a:buNone/>
            </a:pPr>
            <a:r>
              <a:rPr lang="en-US" sz="1300" b="1" spc="200" kern="0" dirty="0">
                <a:solidFill>
                  <a:srgbClr val="7FB3BC"/>
                </a:solidFill>
                <a:latin typeface="Calibri" pitchFamily="34" charset="0"/>
                <a:ea typeface="Calibri" pitchFamily="34" charset="-122"/>
                <a:cs typeface="Calibri" pitchFamily="34" charset="-120"/>
              </a:rPr>
              <a:t>MBA ZG583 · MANAGEMENT OF AI PRODUCTS · CAPSTONE</a:t>
            </a:r>
            <a:endParaRPr lang="en-US" sz="1300" dirty="0"/>
          </a:p>
        </p:txBody>
      </p:sp>
      <p:sp>
        <p:nvSpPr>
          <p:cNvPr id="3" name="Text 1"/>
          <p:cNvSpPr txBox="1"/>
          <p:nvPr/>
        </p:nvSpPr>
        <p:spPr>
          <a:xfrm>
            <a:off x="502920" y="1508760"/>
            <a:ext cx="813816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UniConnect Operations OS</a:t>
            </a:r>
            <a:endParaRPr lang="en-US" sz="4400" dirty="0"/>
          </a:p>
        </p:txBody>
      </p:sp>
      <p:sp>
        <p:nvSpPr>
          <p:cNvPr id="4" name="Text 2"/>
          <p:cNvSpPr txBox="1"/>
          <p:nvPr/>
        </p:nvSpPr>
        <p:spPr>
          <a:xfrm>
            <a:off x="502920" y="2606040"/>
            <a:ext cx="8037576" cy="73152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An AI-assisted academic operations platform running across a 40-campus higher-education network. Product review for a pilot decision.</a:t>
            </a:r>
            <a:endParaRPr lang="en-US" sz="1600" dirty="0"/>
          </a:p>
        </p:txBody>
      </p:sp>
      <p:sp>
        <p:nvSpPr>
          <p:cNvPr id="5" name="Text 3"/>
          <p:cNvSpPr txBox="1"/>
          <p:nvPr/>
        </p:nvSpPr>
        <p:spPr>
          <a:xfrm>
            <a:off x="502920" y="4160520"/>
            <a:ext cx="8138160" cy="274320"/>
          </a:xfrm>
          <a:prstGeom prst="rect">
            <a:avLst/>
          </a:prstGeom>
          <a:noFill/>
          <a:ln/>
        </p:spPr>
        <p:txBody>
          <a:bodyPr wrap="square" rtlCol="0" anchor="ctr"/>
          <a:lstStyle/>
          <a:p>
            <a:pPr indent="0" marL="0">
              <a:buNone/>
            </a:pPr>
            <a:r>
              <a:rPr lang="en-US" sz="1200" dirty="0">
                <a:solidFill>
                  <a:srgbClr val="8FA3BF"/>
                </a:solidFill>
                <a:latin typeface="Calibri" pitchFamily="34" charset="0"/>
                <a:ea typeface="Calibri" pitchFamily="34" charset="-122"/>
                <a:cs typeface="Calibri" pitchFamily="34" charset="-120"/>
              </a:rPr>
              <a:t>Manoj Kumar Panchothi   ·   11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01</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The same operational day, forty times over</a:t>
            </a:r>
            <a:endParaRPr lang="en-US" sz="2600" dirty="0"/>
          </a:p>
        </p:txBody>
      </p:sp>
      <p:sp>
        <p:nvSpPr>
          <p:cNvPr id="4" name="Text 2"/>
          <p:cNvSpPr txBox="1"/>
          <p:nvPr/>
        </p:nvSpPr>
        <p:spPr>
          <a:xfrm>
            <a:off x="502920" y="868680"/>
            <a:ext cx="8138160" cy="685800"/>
          </a:xfrm>
          <a:prstGeom prst="rect">
            <a:avLst/>
          </a:prstGeom>
          <a:noFill/>
          <a:ln/>
        </p:spPr>
        <p:txBody>
          <a:bodyPr wrap="square" rtlCol="0" anchor="t"/>
          <a:lstStyle/>
          <a:p>
            <a:pPr indent="0" marL="0">
              <a:buNone/>
            </a:pPr>
            <a:r>
              <a:rPr lang="en-US" sz="1300" dirty="0">
                <a:solidFill>
                  <a:srgbClr val="1F2A44"/>
                </a:solidFill>
                <a:latin typeface="Calibri" pitchFamily="34" charset="0"/>
                <a:ea typeface="Calibri" pitchFamily="34" charset="-122"/>
                <a:cs typeface="Calibri" pitchFamily="34" charset="-120"/>
              </a:rPr>
              <a:t>Fees to reconcile, daily reports to write and review, attendance to record, problems to route — every working day, at every campus. Before the platform it lived in spreadsheets, email and WhatsApp. The platform fixed the structure. What remains is a reading problem.</a:t>
            </a:r>
            <a:endParaRPr lang="en-US" sz="1300" dirty="0"/>
          </a:p>
        </p:txBody>
      </p:sp>
      <p:sp>
        <p:nvSpPr>
          <p:cNvPr id="5" name="Shape 3"/>
          <p:cNvSpPr/>
          <p:nvPr/>
        </p:nvSpPr>
        <p:spPr>
          <a:xfrm>
            <a:off x="502920" y="1691640"/>
            <a:ext cx="2606040" cy="1371600"/>
          </a:xfrm>
          <a:prstGeom prst="roundRect">
            <a:avLst>
              <a:gd name="adj" fmla="val 4000"/>
            </a:avLst>
          </a:prstGeom>
          <a:solidFill>
            <a:srgbClr val="E9F1F3"/>
          </a:solidFill>
          <a:ln w="12700">
            <a:solidFill>
              <a:srgbClr val="E9F1F3"/>
            </a:solidFill>
            <a:prstDash val="solid"/>
          </a:ln>
        </p:spPr>
      </p:sp>
      <p:sp>
        <p:nvSpPr>
          <p:cNvPr id="6" name="Text 4"/>
          <p:cNvSpPr txBox="1"/>
          <p:nvPr/>
        </p:nvSpPr>
        <p:spPr>
          <a:xfrm>
            <a:off x="502920" y="1856232"/>
            <a:ext cx="2606040" cy="640080"/>
          </a:xfrm>
          <a:prstGeom prst="rect">
            <a:avLst/>
          </a:prstGeom>
          <a:noFill/>
          <a:ln/>
        </p:spPr>
        <p:txBody>
          <a:bodyPr wrap="square" rtlCol="0" anchor="ctr"/>
          <a:lstStyle/>
          <a:p>
            <a:pPr algn="ctr" indent="0" marL="0">
              <a:buNone/>
            </a:pPr>
            <a:r>
              <a:rPr lang="en-US" sz="3400" b="1" dirty="0">
                <a:solidFill>
                  <a:srgbClr val="17263F"/>
                </a:solidFill>
                <a:latin typeface="Cambria" pitchFamily="34" charset="0"/>
                <a:ea typeface="Cambria" pitchFamily="34" charset="-122"/>
                <a:cs typeface="Cambria" pitchFamily="34" charset="-120"/>
              </a:rPr>
              <a:t>40</a:t>
            </a:r>
            <a:endParaRPr lang="en-US" sz="3400" dirty="0"/>
          </a:p>
        </p:txBody>
      </p:sp>
      <p:sp>
        <p:nvSpPr>
          <p:cNvPr id="7" name="Text 5"/>
          <p:cNvSpPr txBox="1"/>
          <p:nvPr/>
        </p:nvSpPr>
        <p:spPr>
          <a:xfrm>
            <a:off x="612648" y="2496312"/>
            <a:ext cx="2386584" cy="457200"/>
          </a:xfrm>
          <a:prstGeom prst="rect">
            <a:avLst/>
          </a:prstGeom>
          <a:noFill/>
          <a:ln/>
        </p:spPr>
        <p:txBody>
          <a:bodyPr wrap="square" rtlCol="0" anchor="ctr"/>
          <a:lstStyle/>
          <a:p>
            <a:pPr algn="ctr" indent="0" marL="0">
              <a:buNone/>
            </a:pPr>
            <a:r>
              <a:rPr lang="en-US" sz="1100" dirty="0">
                <a:solidFill>
                  <a:srgbClr val="5A6B85"/>
                </a:solidFill>
                <a:latin typeface="Calibri" pitchFamily="34" charset="0"/>
                <a:ea typeface="Calibri" pitchFamily="34" charset="-122"/>
                <a:cs typeface="Calibri" pitchFamily="34" charset="-120"/>
              </a:rPr>
              <a:t>campuses filing a free-text report every working day</a:t>
            </a:r>
            <a:endParaRPr lang="en-US" sz="1100" dirty="0"/>
          </a:p>
        </p:txBody>
      </p:sp>
      <p:sp>
        <p:nvSpPr>
          <p:cNvPr id="8" name="Shape 6"/>
          <p:cNvSpPr/>
          <p:nvPr/>
        </p:nvSpPr>
        <p:spPr>
          <a:xfrm>
            <a:off x="3246120" y="1691640"/>
            <a:ext cx="2606040" cy="1371600"/>
          </a:xfrm>
          <a:prstGeom prst="roundRect">
            <a:avLst>
              <a:gd name="adj" fmla="val 4000"/>
            </a:avLst>
          </a:prstGeom>
          <a:solidFill>
            <a:srgbClr val="E9F1F3"/>
          </a:solidFill>
          <a:ln w="12700">
            <a:solidFill>
              <a:srgbClr val="E9F1F3"/>
            </a:solidFill>
            <a:prstDash val="solid"/>
          </a:ln>
        </p:spPr>
      </p:sp>
      <p:sp>
        <p:nvSpPr>
          <p:cNvPr id="9" name="Text 7"/>
          <p:cNvSpPr txBox="1"/>
          <p:nvPr/>
        </p:nvSpPr>
        <p:spPr>
          <a:xfrm>
            <a:off x="3246120" y="1856232"/>
            <a:ext cx="2606040" cy="640080"/>
          </a:xfrm>
          <a:prstGeom prst="rect">
            <a:avLst/>
          </a:prstGeom>
          <a:noFill/>
          <a:ln/>
        </p:spPr>
        <p:txBody>
          <a:bodyPr wrap="square" rtlCol="0" anchor="ctr"/>
          <a:lstStyle/>
          <a:p>
            <a:pPr algn="ctr" indent="0" marL="0">
              <a:buNone/>
            </a:pPr>
            <a:r>
              <a:rPr lang="en-US" sz="3400" b="1" dirty="0">
                <a:solidFill>
                  <a:srgbClr val="17263F"/>
                </a:solidFill>
                <a:latin typeface="Cambria" pitchFamily="34" charset="0"/>
                <a:ea typeface="Cambria" pitchFamily="34" charset="-122"/>
                <a:cs typeface="Cambria" pitchFamily="34" charset="-120"/>
              </a:rPr>
              <a:t>2.5 hrs</a:t>
            </a:r>
            <a:endParaRPr lang="en-US" sz="3400" dirty="0"/>
          </a:p>
        </p:txBody>
      </p:sp>
      <p:sp>
        <p:nvSpPr>
          <p:cNvPr id="10" name="Text 8"/>
          <p:cNvSpPr txBox="1"/>
          <p:nvPr/>
        </p:nvSpPr>
        <p:spPr>
          <a:xfrm>
            <a:off x="3355848" y="2496312"/>
            <a:ext cx="2386584" cy="457200"/>
          </a:xfrm>
          <a:prstGeom prst="rect">
            <a:avLst/>
          </a:prstGeom>
          <a:noFill/>
          <a:ln/>
        </p:spPr>
        <p:txBody>
          <a:bodyPr wrap="square" rtlCol="0" anchor="ctr"/>
          <a:lstStyle/>
          <a:p>
            <a:pPr algn="ctr" indent="0" marL="0">
              <a:buNone/>
            </a:pPr>
            <a:r>
              <a:rPr lang="en-US" sz="1100" dirty="0">
                <a:solidFill>
                  <a:srgbClr val="5A6B85"/>
                </a:solidFill>
                <a:latin typeface="Calibri" pitchFamily="34" charset="0"/>
                <a:ea typeface="Calibri" pitchFamily="34" charset="-122"/>
                <a:cs typeface="Calibri" pitchFamily="34" charset="-120"/>
              </a:rPr>
              <a:t>between the 16:00 filing deadline and the 18:30 sign-off</a:t>
            </a:r>
            <a:endParaRPr lang="en-US" sz="1100" dirty="0"/>
          </a:p>
        </p:txBody>
      </p:sp>
      <p:sp>
        <p:nvSpPr>
          <p:cNvPr id="11" name="Shape 9"/>
          <p:cNvSpPr/>
          <p:nvPr/>
        </p:nvSpPr>
        <p:spPr>
          <a:xfrm>
            <a:off x="5989320" y="1691640"/>
            <a:ext cx="2606040" cy="1371600"/>
          </a:xfrm>
          <a:prstGeom prst="roundRect">
            <a:avLst>
              <a:gd name="adj" fmla="val 4000"/>
            </a:avLst>
          </a:prstGeom>
          <a:solidFill>
            <a:srgbClr val="E9F1F3"/>
          </a:solidFill>
          <a:ln w="12700">
            <a:solidFill>
              <a:srgbClr val="E9F1F3"/>
            </a:solidFill>
            <a:prstDash val="solid"/>
          </a:ln>
        </p:spPr>
      </p:sp>
      <p:sp>
        <p:nvSpPr>
          <p:cNvPr id="12" name="Text 10"/>
          <p:cNvSpPr txBox="1"/>
          <p:nvPr/>
        </p:nvSpPr>
        <p:spPr>
          <a:xfrm>
            <a:off x="5989320" y="1856232"/>
            <a:ext cx="2606040" cy="640080"/>
          </a:xfrm>
          <a:prstGeom prst="rect">
            <a:avLst/>
          </a:prstGeom>
          <a:noFill/>
          <a:ln/>
        </p:spPr>
        <p:txBody>
          <a:bodyPr wrap="square" rtlCol="0" anchor="ctr"/>
          <a:lstStyle/>
          <a:p>
            <a:pPr algn="ctr" indent="0" marL="0">
              <a:buNone/>
            </a:pPr>
            <a:r>
              <a:rPr lang="en-US" sz="3400" b="1" dirty="0">
                <a:solidFill>
                  <a:srgbClr val="17263F"/>
                </a:solidFill>
                <a:latin typeface="Cambria" pitchFamily="34" charset="0"/>
                <a:ea typeface="Cambria" pitchFamily="34" charset="-122"/>
                <a:cs typeface="Cambria" pitchFamily="34" charset="-120"/>
              </a:rPr>
              <a:t>1–2 days</a:t>
            </a:r>
            <a:endParaRPr lang="en-US" sz="3400" dirty="0"/>
          </a:p>
        </p:txBody>
      </p:sp>
      <p:sp>
        <p:nvSpPr>
          <p:cNvPr id="13" name="Text 11"/>
          <p:cNvSpPr txBox="1"/>
          <p:nvPr/>
        </p:nvSpPr>
        <p:spPr>
          <a:xfrm>
            <a:off x="6099048" y="2496312"/>
            <a:ext cx="2386584" cy="457200"/>
          </a:xfrm>
          <a:prstGeom prst="rect">
            <a:avLst/>
          </a:prstGeom>
          <a:noFill/>
          <a:ln/>
        </p:spPr>
        <p:txBody>
          <a:bodyPr wrap="square" rtlCol="0" anchor="ctr"/>
          <a:lstStyle/>
          <a:p>
            <a:pPr algn="ctr" indent="0" marL="0">
              <a:buNone/>
            </a:pPr>
            <a:r>
              <a:rPr lang="en-US" sz="1100" dirty="0">
                <a:solidFill>
                  <a:srgbClr val="5A6B85"/>
                </a:solidFill>
                <a:latin typeface="Calibri" pitchFamily="34" charset="0"/>
                <a:ea typeface="Calibri" pitchFamily="34" charset="-122"/>
                <a:cs typeface="Calibri" pitchFamily="34" charset="-120"/>
              </a:rPr>
              <a:t>typical lag before a serious issue is escalated</a:t>
            </a:r>
            <a:endParaRPr lang="en-US" sz="1100" dirty="0"/>
          </a:p>
        </p:txBody>
      </p:sp>
      <p:sp>
        <p:nvSpPr>
          <p:cNvPr id="14" name="Shape 12"/>
          <p:cNvSpPr/>
          <p:nvPr/>
        </p:nvSpPr>
        <p:spPr>
          <a:xfrm>
            <a:off x="502920" y="3310128"/>
            <a:ext cx="8138160" cy="1005840"/>
          </a:xfrm>
          <a:prstGeom prst="roundRect">
            <a:avLst>
              <a:gd name="adj" fmla="val 4545"/>
            </a:avLst>
          </a:prstGeom>
          <a:solidFill>
            <a:srgbClr val="17263F"/>
          </a:solidFill>
          <a:ln w="12700">
            <a:solidFill>
              <a:srgbClr val="17263F"/>
            </a:solidFill>
            <a:prstDash val="solid"/>
          </a:ln>
        </p:spPr>
      </p:sp>
      <p:sp>
        <p:nvSpPr>
          <p:cNvPr id="15" name="Text 13"/>
          <p:cNvSpPr txBox="1"/>
          <p:nvPr/>
        </p:nvSpPr>
        <p:spPr>
          <a:xfrm>
            <a:off x="731520" y="3456432"/>
            <a:ext cx="7680960" cy="73152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The failure is not a missing feature. It is that decision quality falls as the network grows, because the reading does not scale.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02</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Who feels it, and when</a:t>
            </a:r>
            <a:endParaRPr lang="en-US" sz="2600" dirty="0"/>
          </a:p>
        </p:txBody>
      </p:sp>
      <p:sp>
        <p:nvSpPr>
          <p:cNvPr id="4" name="Shape 2"/>
          <p:cNvSpPr/>
          <p:nvPr/>
        </p:nvSpPr>
        <p:spPr>
          <a:xfrm>
            <a:off x="502920" y="914400"/>
            <a:ext cx="2606040" cy="1828800"/>
          </a:xfrm>
          <a:prstGeom prst="roundRect">
            <a:avLst>
              <a:gd name="adj" fmla="val 2500"/>
            </a:avLst>
          </a:prstGeom>
          <a:solidFill>
            <a:srgbClr val="F6F8FB"/>
          </a:solidFill>
          <a:ln w="12700">
            <a:solidFill>
              <a:srgbClr val="D3DCE6"/>
            </a:solidFill>
            <a:prstDash val="solid"/>
          </a:ln>
        </p:spPr>
      </p:sp>
      <p:sp>
        <p:nvSpPr>
          <p:cNvPr id="5" name="Text 3"/>
          <p:cNvSpPr txBox="1"/>
          <p:nvPr/>
        </p:nvSpPr>
        <p:spPr>
          <a:xfrm>
            <a:off x="685800" y="1042416"/>
            <a:ext cx="22402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Business Operations Associate</a:t>
            </a:r>
            <a:endParaRPr lang="en-US" sz="1400" dirty="0"/>
          </a:p>
        </p:txBody>
      </p:sp>
      <p:sp>
        <p:nvSpPr>
          <p:cNvPr id="6" name="Text 4"/>
          <p:cNvSpPr txBox="1"/>
          <p:nvPr/>
        </p:nvSpPr>
        <p:spPr>
          <a:xfrm>
            <a:off x="685800" y="1371600"/>
            <a:ext cx="2240280" cy="126187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Files one campus report before 16:00</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Wants it accepted first time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Re-sends when it is sent back</a:t>
            </a:r>
            <a:endParaRPr lang="en-US" sz="1100" dirty="0"/>
          </a:p>
        </p:txBody>
      </p:sp>
      <p:sp>
        <p:nvSpPr>
          <p:cNvPr id="7" name="Shape 5"/>
          <p:cNvSpPr/>
          <p:nvPr/>
        </p:nvSpPr>
        <p:spPr>
          <a:xfrm>
            <a:off x="3246120" y="914400"/>
            <a:ext cx="2606040" cy="1828800"/>
          </a:xfrm>
          <a:prstGeom prst="roundRect">
            <a:avLst>
              <a:gd name="adj" fmla="val 2500"/>
            </a:avLst>
          </a:prstGeom>
          <a:solidFill>
            <a:srgbClr val="E9F1F3"/>
          </a:solidFill>
          <a:ln w="12700">
            <a:solidFill>
              <a:srgbClr val="D3DCE6"/>
            </a:solidFill>
            <a:prstDash val="solid"/>
          </a:ln>
        </p:spPr>
      </p:sp>
      <p:sp>
        <p:nvSpPr>
          <p:cNvPr id="8" name="Text 6"/>
          <p:cNvSpPr txBox="1"/>
          <p:nvPr/>
        </p:nvSpPr>
        <p:spPr>
          <a:xfrm>
            <a:off x="3429000" y="1042416"/>
            <a:ext cx="22402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Programme Manager / COS</a:t>
            </a:r>
            <a:endParaRPr lang="en-US" sz="1400" dirty="0"/>
          </a:p>
        </p:txBody>
      </p:sp>
      <p:sp>
        <p:nvSpPr>
          <p:cNvPr id="9" name="Text 7"/>
          <p:cNvSpPr txBox="1"/>
          <p:nvPr/>
        </p:nvSpPr>
        <p:spPr>
          <a:xfrm>
            <a:off x="3429000" y="1371600"/>
            <a:ext cx="2240280" cy="126187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Reviews ten to twelve campuses nightly</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Must find the three that need tonight</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Signs off or escalates</a:t>
            </a:r>
            <a:endParaRPr lang="en-US" sz="1100" dirty="0"/>
          </a:p>
        </p:txBody>
      </p:sp>
      <p:sp>
        <p:nvSpPr>
          <p:cNvPr id="10" name="Shape 8"/>
          <p:cNvSpPr/>
          <p:nvPr/>
        </p:nvSpPr>
        <p:spPr>
          <a:xfrm>
            <a:off x="5989320" y="914400"/>
            <a:ext cx="2606040" cy="1828800"/>
          </a:xfrm>
          <a:prstGeom prst="roundRect">
            <a:avLst>
              <a:gd name="adj" fmla="val 2500"/>
            </a:avLst>
          </a:prstGeom>
          <a:solidFill>
            <a:srgbClr val="F6F8FB"/>
          </a:solidFill>
          <a:ln w="12700">
            <a:solidFill>
              <a:srgbClr val="D3DCE6"/>
            </a:solidFill>
            <a:prstDash val="solid"/>
          </a:ln>
        </p:spPr>
      </p:sp>
      <p:sp>
        <p:nvSpPr>
          <p:cNvPr id="11" name="Text 9"/>
          <p:cNvSpPr txBox="1"/>
          <p:nvPr/>
        </p:nvSpPr>
        <p:spPr>
          <a:xfrm>
            <a:off x="6172200" y="1042416"/>
            <a:ext cx="22402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Academic Operations Lead</a:t>
            </a:r>
            <a:endParaRPr lang="en-US" sz="1400" dirty="0"/>
          </a:p>
        </p:txBody>
      </p:sp>
      <p:sp>
        <p:nvSpPr>
          <p:cNvPr id="12" name="Text 10"/>
          <p:cNvSpPr txBox="1"/>
          <p:nvPr/>
        </p:nvSpPr>
        <p:spPr>
          <a:xfrm>
            <a:off x="6172200" y="1371600"/>
            <a:ext cx="2240280" cy="126187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Plans exam cycles per campus</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Portions, papers, seating, invigilation</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Rebuilt in spreadsheets today</a:t>
            </a:r>
            <a:endParaRPr lang="en-US" sz="1100" dirty="0"/>
          </a:p>
        </p:txBody>
      </p:sp>
      <p:sp>
        <p:nvSpPr>
          <p:cNvPr id="13" name="Text 11"/>
          <p:cNvSpPr txBox="1"/>
          <p:nvPr/>
        </p:nvSpPr>
        <p:spPr>
          <a:xfrm>
            <a:off x="502920" y="2971800"/>
            <a:ext cx="8138160" cy="320040"/>
          </a:xfrm>
          <a:prstGeom prst="rect">
            <a:avLst/>
          </a:prstGeom>
          <a:noFill/>
          <a:ln/>
        </p:spPr>
        <p:txBody>
          <a:bodyPr wrap="square"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The reviewer’s evening is the moment the product is designed around</a:t>
            </a:r>
            <a:endParaRPr lang="en-US" sz="1400" dirty="0"/>
          </a:p>
        </p:txBody>
      </p:sp>
      <p:sp>
        <p:nvSpPr>
          <p:cNvPr id="14" name="Text 12"/>
          <p:cNvSpPr txBox="1"/>
          <p:nvPr/>
        </p:nvSpPr>
        <p:spPr>
          <a:xfrm>
            <a:off x="502920" y="3337560"/>
            <a:ext cx="8138160" cy="457200"/>
          </a:xfrm>
          <a:prstGeom prst="rect">
            <a:avLst/>
          </a:prstGeom>
          <a:noFill/>
          <a:ln/>
        </p:spPr>
        <p:txBody>
          <a:bodyPr wrap="square" rtlCol="0" anchor="ctr"/>
          <a:lstStyle/>
          <a:p>
            <a:pPr indent="0" marL="0">
              <a:buNone/>
            </a:pPr>
            <a:r>
              <a:rPr lang="en-US" sz="1300" dirty="0">
                <a:solidFill>
                  <a:srgbClr val="5A6B85"/>
                </a:solidFill>
                <a:latin typeface="Calibri" pitchFamily="34" charset="0"/>
                <a:ea typeface="Calibri" pitchFamily="34" charset="-122"/>
                <a:cs typeface="Calibri" pitchFamily="34" charset="-120"/>
              </a:rPr>
              <a:t>submit  →  </a:t>
            </a:r>
            <a:pPr indent="0" marL="0">
              <a:buNone/>
            </a:pPr>
            <a:r>
              <a:rPr lang="en-US" sz="1300" dirty="0">
                <a:solidFill>
                  <a:srgbClr val="5A6B85"/>
                </a:solidFill>
                <a:latin typeface="Calibri" pitchFamily="34" charset="0"/>
                <a:ea typeface="Calibri" pitchFamily="34" charset="-122"/>
                <a:cs typeface="Calibri" pitchFamily="34" charset="-120"/>
              </a:rPr>
              <a:t>16:00 deadline  →  </a:t>
            </a:r>
            <a:pPr indent="0" marL="0">
              <a:buNone/>
            </a:pPr>
            <a:r>
              <a:rPr lang="en-US" sz="1300" b="1" dirty="0">
                <a:solidFill>
                  <a:srgbClr val="0E7C86"/>
                </a:solidFill>
                <a:latin typeface="Calibri" pitchFamily="34" charset="0"/>
                <a:ea typeface="Calibri" pitchFamily="34" charset="-122"/>
                <a:cs typeface="Calibri" pitchFamily="34" charset="-120"/>
              </a:rPr>
              <a:t>AI-assisted triage  →  </a:t>
            </a:r>
            <a:pPr indent="0" marL="0">
              <a:buNone/>
            </a:pPr>
            <a:r>
              <a:rPr lang="en-US" sz="1300" b="1" dirty="0">
                <a:solidFill>
                  <a:srgbClr val="17263F"/>
                </a:solidFill>
                <a:latin typeface="Calibri" pitchFamily="34" charset="0"/>
                <a:ea typeface="Calibri" pitchFamily="34" charset="-122"/>
                <a:cs typeface="Calibri" pitchFamily="34" charset="-120"/>
              </a:rPr>
              <a:t>human review  →  </a:t>
            </a:r>
            <a:pPr indent="0" marL="0">
              <a:buNone/>
            </a:pPr>
            <a:r>
              <a:rPr lang="en-US" sz="1300" dirty="0">
                <a:solidFill>
                  <a:srgbClr val="5A6B85"/>
                </a:solidFill>
                <a:latin typeface="Calibri" pitchFamily="34" charset="0"/>
                <a:ea typeface="Calibri" pitchFamily="34" charset="-122"/>
                <a:cs typeface="Calibri" pitchFamily="34" charset="-120"/>
              </a:rPr>
              <a:t>sign off / send back / escalate  →  </a:t>
            </a:r>
            <a:pPr indent="0" marL="0">
              <a:buNone/>
            </a:pPr>
            <a:r>
              <a:rPr lang="en-US" sz="1300" dirty="0">
                <a:solidFill>
                  <a:srgbClr val="5A6B85"/>
                </a:solidFill>
                <a:latin typeface="Calibri" pitchFamily="34" charset="0"/>
                <a:ea typeface="Calibri" pitchFamily="34" charset="-122"/>
                <a:cs typeface="Calibri" pitchFamily="34" charset="-120"/>
              </a:rPr>
              <a:t>immutable audit</a:t>
            </a:r>
            <a:endParaRPr lang="en-US" sz="1300" dirty="0"/>
          </a:p>
        </p:txBody>
      </p:sp>
      <p:pic>
        <p:nvPicPr>
          <p:cNvPr id="15" name="Image 0" descr="/home/claude/inbox/appendix/jpg/A30-pm-review-queue.jpg">    </p:cNvPr>
          <p:cNvPicPr>
            <a:picLocks noChangeAspect="1"/>
          </p:cNvPicPr>
          <p:nvPr/>
        </p:nvPicPr>
        <p:blipFill>
          <a:blip r:embed="rId1"/>
          <a:stretch>
            <a:fillRect/>
          </a:stretch>
        </p:blipFill>
        <p:spPr>
          <a:xfrm>
            <a:off x="502920" y="3794760"/>
            <a:ext cx="5120640" cy="960120"/>
          </a:xfrm>
          <a:prstGeom prst="rect">
            <a:avLst/>
          </a:prstGeom>
        </p:spPr>
      </p:pic>
      <p:sp>
        <p:nvSpPr>
          <p:cNvPr id="16" name="Text 13"/>
          <p:cNvSpPr txBox="1"/>
          <p:nvPr/>
        </p:nvSpPr>
        <p:spPr>
          <a:xfrm>
            <a:off x="5852160" y="3977640"/>
            <a:ext cx="2834640" cy="640080"/>
          </a:xfrm>
          <a:prstGeom prst="rect">
            <a:avLst/>
          </a:prstGeom>
          <a:noFill/>
          <a:ln/>
        </p:spPr>
        <p:txBody>
          <a:bodyPr wrap="square" rtlCol="0" anchor="t"/>
          <a:lstStyle/>
          <a:p>
            <a:pPr indent="0" marL="0">
              <a:buNone/>
            </a:pPr>
            <a:r>
              <a:rPr lang="en-US" sz="1050" i="1" dirty="0">
                <a:solidFill>
                  <a:srgbClr val="5A6B85"/>
                </a:solidFill>
                <a:latin typeface="Calibri" pitchFamily="34" charset="0"/>
                <a:ea typeface="Calibri" pitchFamily="34" charset="-122"/>
                <a:cs typeface="Calibri" pitchFamily="34" charset="-120"/>
              </a:rPr>
              <a:t>The review surface today: submissions awaiting a decision, in arrival order, with no ranking applied.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03</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Why AI, and why not</a:t>
            </a:r>
            <a:endParaRPr lang="en-US" sz="2600" dirty="0"/>
          </a:p>
        </p:txBody>
      </p:sp>
      <p:sp>
        <p:nvSpPr>
          <p:cNvPr id="4" name="Shape 2"/>
          <p:cNvSpPr/>
          <p:nvPr/>
        </p:nvSpPr>
        <p:spPr>
          <a:xfrm>
            <a:off x="502920" y="914400"/>
            <a:ext cx="3977640" cy="1783080"/>
          </a:xfrm>
          <a:prstGeom prst="roundRect">
            <a:avLst>
              <a:gd name="adj" fmla="val 2564"/>
            </a:avLst>
          </a:prstGeom>
          <a:solidFill>
            <a:srgbClr val="F6F8FB"/>
          </a:solidFill>
          <a:ln w="12700">
            <a:solidFill>
              <a:srgbClr val="D3DCE6"/>
            </a:solidFill>
            <a:prstDash val="solid"/>
          </a:ln>
        </p:spPr>
      </p:sp>
      <p:sp>
        <p:nvSpPr>
          <p:cNvPr id="5" name="Text 3"/>
          <p:cNvSpPr txBox="1"/>
          <p:nvPr/>
        </p:nvSpPr>
        <p:spPr>
          <a:xfrm>
            <a:off x="685800" y="1042416"/>
            <a:ext cx="36118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Rules and dashboards already handle this</a:t>
            </a:r>
            <a:endParaRPr lang="en-US" sz="1400" dirty="0"/>
          </a:p>
        </p:txBody>
      </p:sp>
      <p:sp>
        <p:nvSpPr>
          <p:cNvPr id="6" name="Text 4"/>
          <p:cNvSpPr txBox="1"/>
          <p:nvPr/>
        </p:nvSpPr>
        <p:spPr>
          <a:xfrm>
            <a:off x="685800" y="1371600"/>
            <a:ext cx="3611880" cy="121615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 fee number that drops</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Attendance below target</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 report not filed by 16:00</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Any numeric threshold breach</a:t>
            </a:r>
            <a:endParaRPr lang="en-US" sz="1100" dirty="0"/>
          </a:p>
        </p:txBody>
      </p:sp>
      <p:sp>
        <p:nvSpPr>
          <p:cNvPr id="7" name="Shape 5"/>
          <p:cNvSpPr/>
          <p:nvPr/>
        </p:nvSpPr>
        <p:spPr>
          <a:xfrm>
            <a:off x="4709160" y="914400"/>
            <a:ext cx="3977640" cy="1783080"/>
          </a:xfrm>
          <a:prstGeom prst="roundRect">
            <a:avLst>
              <a:gd name="adj" fmla="val 2564"/>
            </a:avLst>
          </a:prstGeom>
          <a:solidFill>
            <a:srgbClr val="E9F1F3"/>
          </a:solidFill>
          <a:ln w="12700">
            <a:solidFill>
              <a:srgbClr val="D3DCE6"/>
            </a:solidFill>
            <a:prstDash val="solid"/>
          </a:ln>
        </p:spPr>
      </p:sp>
      <p:sp>
        <p:nvSpPr>
          <p:cNvPr id="8" name="Text 6"/>
          <p:cNvSpPr txBox="1"/>
          <p:nvPr/>
        </p:nvSpPr>
        <p:spPr>
          <a:xfrm>
            <a:off x="4892040" y="1042416"/>
            <a:ext cx="36118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They cannot handle this</a:t>
            </a:r>
            <a:endParaRPr lang="en-US" sz="1400" dirty="0"/>
          </a:p>
        </p:txBody>
      </p:sp>
      <p:sp>
        <p:nvSpPr>
          <p:cNvPr id="9" name="Text 7"/>
          <p:cNvSpPr txBox="1"/>
          <p:nvPr/>
        </p:nvSpPr>
        <p:spPr>
          <a:xfrm>
            <a:off x="4892040" y="1371600"/>
            <a:ext cx="3611880" cy="121615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"lab machines down again since Monday"</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Buried in paragraph four of a routine report</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Written by forty different people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 language problem, not a numbers problem</a:t>
            </a:r>
            <a:endParaRPr lang="en-US" sz="1100" dirty="0"/>
          </a:p>
        </p:txBody>
      </p:sp>
      <p:sp>
        <p:nvSpPr>
          <p:cNvPr id="10" name="Text 8"/>
          <p:cNvSpPr txBox="1"/>
          <p:nvPr/>
        </p:nvSpPr>
        <p:spPr>
          <a:xfrm>
            <a:off x="502920" y="2834640"/>
            <a:ext cx="8138160" cy="274320"/>
          </a:xfrm>
          <a:prstGeom prst="rect">
            <a:avLst/>
          </a:prstGeom>
          <a:noFill/>
          <a:ln/>
        </p:spPr>
        <p:txBody>
          <a:bodyPr wrap="square" lIns="0" tIns="0" rIns="0" bIns="0" rtlCol="0" anchor="ctr"/>
          <a:lstStyle/>
          <a:p>
            <a:pPr indent="0" marL="0">
              <a:buNone/>
            </a:pPr>
            <a:r>
              <a:rPr lang="en-US" sz="1300" b="1" dirty="0">
                <a:solidFill>
                  <a:srgbClr val="17263F"/>
                </a:solidFill>
                <a:latin typeface="Calibri" pitchFamily="34" charset="0"/>
                <a:ea typeface="Calibri" pitchFamily="34" charset="-122"/>
                <a:cs typeface="Calibri" pitchFamily="34" charset="-120"/>
              </a:rPr>
              <a:t>Why now</a:t>
            </a:r>
            <a:endParaRPr lang="en-US" sz="1300" dirty="0"/>
          </a:p>
        </p:txBody>
      </p:sp>
      <p:sp>
        <p:nvSpPr>
          <p:cNvPr id="11" name="Text 9"/>
          <p:cNvSpPr txBox="1"/>
          <p:nvPr/>
        </p:nvSpPr>
        <p:spPr>
          <a:xfrm>
            <a:off x="502920" y="3127248"/>
            <a:ext cx="8138160" cy="777240"/>
          </a:xfrm>
          <a:prstGeom prst="rect">
            <a:avLst/>
          </a:prstGeom>
          <a:noFill/>
          <a:ln/>
        </p:spPr>
        <p:txBody>
          <a:bodyPr wrap="square" rtlCol="0" anchor="t"/>
          <a:lstStyle/>
          <a:p>
            <a:pPr marL="342900" indent="-342900">
              <a:spcAft>
                <a:spcPts val="300"/>
              </a:spcAft>
              <a:buSzPct val="100000"/>
              <a:buChar char="•"/>
            </a:pPr>
            <a:r>
              <a:rPr lang="en-US" sz="1150" dirty="0">
                <a:solidFill>
                  <a:srgbClr val="1F2A44"/>
                </a:solidFill>
                <a:latin typeface="Calibri" pitchFamily="34" charset="0"/>
                <a:ea typeface="Calibri" pitchFamily="34" charset="-122"/>
                <a:cs typeface="Calibri" pitchFamily="34" charset="-120"/>
              </a:rPr>
              <a:t>The network reached 40 campuses — the reading load crossed what a small central team can absorb.</a:t>
            </a:r>
            <a:endParaRPr lang="en-US" sz="1150" dirty="0"/>
          </a:p>
          <a:p>
            <a:pPr marL="342900" indent="-342900">
              <a:spcAft>
                <a:spcPts val="300"/>
              </a:spcAft>
              <a:buSzPct val="100000"/>
              <a:buChar char="•"/>
            </a:pPr>
            <a:r>
              <a:rPr lang="en-US" sz="1150" dirty="0">
                <a:solidFill>
                  <a:srgbClr val="1F2A44"/>
                </a:solidFill>
                <a:latin typeface="Calibri" pitchFamily="34" charset="0"/>
                <a:ea typeface="Calibri" pitchFamily="34" charset="-122"/>
                <a:cs typeface="Calibri" pitchFamily="34" charset="-120"/>
              </a:rPr>
              <a:t>The platform now supplies both things AI needs here: structured context to ground on, and an existing human approval step to catch it when wrong.</a:t>
            </a:r>
            <a:endParaRPr lang="en-US" sz="1150" dirty="0"/>
          </a:p>
          <a:p>
            <a:pPr marL="342900" indent="-342900">
              <a:spcAft>
                <a:spcPts val="300"/>
              </a:spcAft>
              <a:buSzPct val="100000"/>
              <a:buChar char="•"/>
            </a:pPr>
            <a:r>
              <a:rPr lang="en-US" sz="1150" dirty="0">
                <a:solidFill>
                  <a:srgbClr val="1F2A44"/>
                </a:solidFill>
                <a:latin typeface="Calibri" pitchFamily="34" charset="0"/>
                <a:ea typeface="Calibri" pitchFamily="34" charset="-122"/>
                <a:cs typeface="Calibri" pitchFamily="34" charset="-120"/>
              </a:rPr>
              <a:t>Inference is a per-call cost in fractions of a rupee, so the entry cost is near zero rather than a licence commitment.</a:t>
            </a:r>
            <a:endParaRPr lang="en-US" sz="1150" dirty="0"/>
          </a:p>
        </p:txBody>
      </p:sp>
      <p:sp>
        <p:nvSpPr>
          <p:cNvPr id="12" name="Shape 10"/>
          <p:cNvSpPr/>
          <p:nvPr/>
        </p:nvSpPr>
        <p:spPr>
          <a:xfrm>
            <a:off x="502920" y="3968496"/>
            <a:ext cx="8138160" cy="731520"/>
          </a:xfrm>
          <a:prstGeom prst="roundRect">
            <a:avLst>
              <a:gd name="adj" fmla="val 6250"/>
            </a:avLst>
          </a:prstGeom>
          <a:solidFill>
            <a:srgbClr val="17263F"/>
          </a:solidFill>
          <a:ln w="12700">
            <a:solidFill>
              <a:srgbClr val="17263F"/>
            </a:solidFill>
            <a:prstDash val="solid"/>
          </a:ln>
        </p:spPr>
      </p:sp>
      <p:sp>
        <p:nvSpPr>
          <p:cNvPr id="13" name="Text 11"/>
          <p:cNvSpPr txBox="1"/>
          <p:nvPr/>
        </p:nvSpPr>
        <p:spPr>
          <a:xfrm>
            <a:off x="731520" y="4059936"/>
            <a:ext cx="8138160" cy="566928"/>
          </a:xfrm>
          <a:prstGeom prst="rect">
            <a:avLst/>
          </a:prstGeom>
          <a:noFill/>
          <a:ln/>
        </p:spPr>
        <p:txBody>
          <a:bodyPr wrap="square" lIns="0" tIns="0" rIns="0" bIns="0" rtlCol="0" anchor="t"/>
          <a:lstStyle/>
          <a:p>
            <a:pPr indent="0" marL="0">
              <a:buNone/>
            </a:pPr>
            <a:r>
              <a:rPr lang="en-US" sz="1200" b="1" dirty="0">
                <a:solidFill>
                  <a:srgbClr val="7FB3BC"/>
                </a:solidFill>
                <a:latin typeface="Calibri" pitchFamily="34" charset="0"/>
                <a:ea typeface="Calibri" pitchFamily="34" charset="-122"/>
                <a:cs typeface="Calibri" pitchFamily="34" charset="-120"/>
              </a:rPr>
              <a:t>Where AI is deliberately absent:  </a:t>
            </a:r>
            <a:pPr indent="0" marL="0">
              <a:buNone/>
            </a:pPr>
            <a:r>
              <a:rPr lang="en-US" sz="1200" dirty="0">
                <a:solidFill>
                  <a:srgbClr val="FFFFFF"/>
                </a:solidFill>
                <a:latin typeface="Calibri" pitchFamily="34" charset="0"/>
                <a:ea typeface="Calibri" pitchFamily="34" charset="-122"/>
                <a:cs typeface="Calibri" pitchFamily="34" charset="-120"/>
              </a:rPr>
              <a:t>fee arithmetic, permission enforcement, approval states and audit records stay deterministic — they must be exactly correct and defensible to an auditor.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04</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Platform, plus one narrow wedge</a:t>
            </a:r>
            <a:endParaRPr lang="en-US" sz="2600" dirty="0"/>
          </a:p>
        </p:txBody>
      </p:sp>
      <p:sp>
        <p:nvSpPr>
          <p:cNvPr id="4" name="Shape 2"/>
          <p:cNvSpPr/>
          <p:nvPr/>
        </p:nvSpPr>
        <p:spPr>
          <a:xfrm>
            <a:off x="502920" y="914400"/>
            <a:ext cx="8138160" cy="868680"/>
          </a:xfrm>
          <a:prstGeom prst="roundRect">
            <a:avLst>
              <a:gd name="adj" fmla="val 5263"/>
            </a:avLst>
          </a:prstGeom>
          <a:solidFill>
            <a:srgbClr val="F6F8FB"/>
          </a:solidFill>
          <a:ln w="12700">
            <a:solidFill>
              <a:srgbClr val="D3DCE6"/>
            </a:solidFill>
            <a:prstDash val="solid"/>
          </a:ln>
        </p:spPr>
      </p:sp>
      <p:sp>
        <p:nvSpPr>
          <p:cNvPr id="5" name="Text 3"/>
          <p:cNvSpPr txBox="1"/>
          <p:nvPr/>
        </p:nvSpPr>
        <p:spPr>
          <a:xfrm>
            <a:off x="731520" y="1024128"/>
            <a:ext cx="8138160" cy="256032"/>
          </a:xfrm>
          <a:prstGeom prst="rect">
            <a:avLst/>
          </a:prstGeom>
          <a:noFill/>
          <a:ln/>
        </p:spPr>
        <p:txBody>
          <a:bodyPr wrap="square" lIns="0" tIns="0" rIns="0" bIns="0" rtlCol="0" anchor="ctr"/>
          <a:lstStyle/>
          <a:p>
            <a:pPr indent="0" marL="0">
              <a:buNone/>
            </a:pPr>
            <a:r>
              <a:rPr lang="en-US" sz="1100" b="1" spc="100" kern="0" dirty="0">
                <a:solidFill>
                  <a:srgbClr val="0E7C86"/>
                </a:solidFill>
                <a:latin typeface="Calibri" pitchFamily="34" charset="0"/>
                <a:ea typeface="Calibri" pitchFamily="34" charset="-122"/>
                <a:cs typeface="Calibri" pitchFamily="34" charset="-120"/>
              </a:rPr>
              <a:t>PLATFORM — live in production</a:t>
            </a:r>
            <a:endParaRPr lang="en-US" sz="1100" dirty="0"/>
          </a:p>
        </p:txBody>
      </p:sp>
      <p:sp>
        <p:nvSpPr>
          <p:cNvPr id="6" name="Text 4"/>
          <p:cNvSpPr txBox="1"/>
          <p:nvPr/>
        </p:nvSpPr>
        <p:spPr>
          <a:xfrm>
            <a:off x="731520" y="1280160"/>
            <a:ext cx="8138160" cy="457200"/>
          </a:xfrm>
          <a:prstGeom prst="rect">
            <a:avLst/>
          </a:prstGeom>
          <a:noFill/>
          <a:ln/>
        </p:spPr>
        <p:txBody>
          <a:bodyPr wrap="square" lIns="0" tIns="0" rIns="0" bIns="0" rtlCol="0" anchor="ctr"/>
          <a:lstStyle/>
          <a:p>
            <a:pPr indent="0" marL="0">
              <a:buNone/>
            </a:pPr>
            <a:r>
              <a:rPr lang="en-US" sz="1200" dirty="0">
                <a:solidFill>
                  <a:srgbClr val="1F2A44"/>
                </a:solidFill>
                <a:latin typeface="Calibri" pitchFamily="34" charset="0"/>
                <a:ea typeface="Calibri" pitchFamily="34" charset="-122"/>
                <a:cs typeface="Calibri" pitchFamily="34" charset="-120"/>
              </a:rPr>
              <a:t>One database, one permission model, one audit trail. Fees · daily operations spine · tasks · campaigns · assessments and exam papers · faculty · budgets · meetings · academic operations hub</a:t>
            </a:r>
            <a:endParaRPr lang="en-US" sz="1200" dirty="0"/>
          </a:p>
        </p:txBody>
      </p:sp>
      <p:sp>
        <p:nvSpPr>
          <p:cNvPr id="7" name="Shape 5"/>
          <p:cNvSpPr/>
          <p:nvPr/>
        </p:nvSpPr>
        <p:spPr>
          <a:xfrm>
            <a:off x="502920" y="1920240"/>
            <a:ext cx="8138160" cy="868680"/>
          </a:xfrm>
          <a:prstGeom prst="roundRect">
            <a:avLst>
              <a:gd name="adj" fmla="val 5263"/>
            </a:avLst>
          </a:prstGeom>
          <a:solidFill>
            <a:srgbClr val="E9F1F3"/>
          </a:solidFill>
          <a:ln w="12700">
            <a:solidFill>
              <a:srgbClr val="0E7C86"/>
            </a:solidFill>
            <a:prstDash val="solid"/>
          </a:ln>
        </p:spPr>
      </p:sp>
      <p:sp>
        <p:nvSpPr>
          <p:cNvPr id="8" name="Text 6"/>
          <p:cNvSpPr txBox="1"/>
          <p:nvPr/>
        </p:nvSpPr>
        <p:spPr>
          <a:xfrm>
            <a:off x="731520" y="2029968"/>
            <a:ext cx="8138160" cy="256032"/>
          </a:xfrm>
          <a:prstGeom prst="rect">
            <a:avLst/>
          </a:prstGeom>
          <a:noFill/>
          <a:ln/>
        </p:spPr>
        <p:txBody>
          <a:bodyPr wrap="square" lIns="0" tIns="0" rIns="0" bIns="0" rtlCol="0" anchor="ctr"/>
          <a:lstStyle/>
          <a:p>
            <a:pPr indent="0" marL="0">
              <a:buNone/>
            </a:pPr>
            <a:r>
              <a:rPr lang="en-US" sz="1100" b="1" spc="100" kern="0" dirty="0">
                <a:solidFill>
                  <a:srgbClr val="0E7C86"/>
                </a:solidFill>
                <a:latin typeface="Calibri" pitchFamily="34" charset="0"/>
                <a:ea typeface="Calibri" pitchFamily="34" charset="-122"/>
                <a:cs typeface="Calibri" pitchFamily="34" charset="-120"/>
              </a:rPr>
              <a:t>INTELLIGENCE LAYER — a feature, not a second product</a:t>
            </a:r>
            <a:endParaRPr lang="en-US" sz="1100" dirty="0"/>
          </a:p>
        </p:txBody>
      </p:sp>
      <p:sp>
        <p:nvSpPr>
          <p:cNvPr id="9" name="Text 7"/>
          <p:cNvSpPr txBox="1"/>
          <p:nvPr/>
        </p:nvSpPr>
        <p:spPr>
          <a:xfrm>
            <a:off x="731520" y="2267712"/>
            <a:ext cx="8138160" cy="475488"/>
          </a:xfrm>
          <a:prstGeom prst="rect">
            <a:avLst/>
          </a:prstGeom>
          <a:noFill/>
          <a:ln/>
        </p:spPr>
        <p:txBody>
          <a:bodyPr wrap="square" lIns="0" tIns="0" rIns="0" bIns="0" rtlCol="0" anchor="t"/>
          <a:lstStyle/>
          <a:p>
            <a:pPr indent="0" marL="0">
              <a:buNone/>
            </a:pPr>
            <a:r>
              <a:rPr lang="en-US" sz="1150" dirty="0">
                <a:solidFill>
                  <a:srgbClr val="1F2A44"/>
                </a:solidFill>
                <a:latin typeface="Calibri" pitchFamily="34" charset="0"/>
                <a:ea typeface="Calibri" pitchFamily="34" charset="-122"/>
                <a:cs typeface="Calibri" pitchFamily="34" charset="-120"/>
              </a:rPr>
              <a:t>Reads the operational text nobody has time to read, states how confident it is, and routes each item to the right human with the evidence attached. Switch it off and the platform still runs.</a:t>
            </a:r>
            <a:endParaRPr lang="en-US" sz="1150" dirty="0"/>
          </a:p>
        </p:txBody>
      </p:sp>
      <p:sp>
        <p:nvSpPr>
          <p:cNvPr id="10" name="Text 8"/>
          <p:cNvSpPr txBox="1"/>
          <p:nvPr/>
        </p:nvSpPr>
        <p:spPr>
          <a:xfrm>
            <a:off x="502920" y="2971800"/>
            <a:ext cx="8138160" cy="292608"/>
          </a:xfrm>
          <a:prstGeom prst="rect">
            <a:avLst/>
          </a:prstGeom>
          <a:noFill/>
          <a:ln/>
        </p:spPr>
        <p:txBody>
          <a:bodyPr wrap="square"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MVP — five campuses, one cluster, one academic month, assist-only</a:t>
            </a:r>
            <a:endParaRPr lang="en-US" sz="1400" dirty="0"/>
          </a:p>
        </p:txBody>
      </p:sp>
      <p:sp>
        <p:nvSpPr>
          <p:cNvPr id="11" name="Shape 9"/>
          <p:cNvSpPr/>
          <p:nvPr/>
        </p:nvSpPr>
        <p:spPr>
          <a:xfrm>
            <a:off x="502920" y="3337560"/>
            <a:ext cx="3977640" cy="1280160"/>
          </a:xfrm>
          <a:prstGeom prst="roundRect">
            <a:avLst>
              <a:gd name="adj" fmla="val 3571"/>
            </a:avLst>
          </a:prstGeom>
          <a:solidFill>
            <a:srgbClr val="F6F8FB"/>
          </a:solidFill>
          <a:ln w="12700">
            <a:solidFill>
              <a:srgbClr val="D3DCE6"/>
            </a:solidFill>
            <a:prstDash val="solid"/>
          </a:ln>
        </p:spPr>
      </p:sp>
      <p:sp>
        <p:nvSpPr>
          <p:cNvPr id="12" name="Text 10"/>
          <p:cNvSpPr txBox="1"/>
          <p:nvPr/>
        </p:nvSpPr>
        <p:spPr>
          <a:xfrm>
            <a:off x="685800" y="3465576"/>
            <a:ext cx="36118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In scope</a:t>
            </a:r>
            <a:endParaRPr lang="en-US" sz="1400" dirty="0"/>
          </a:p>
        </p:txBody>
      </p:sp>
      <p:sp>
        <p:nvSpPr>
          <p:cNvPr id="13" name="Text 11"/>
          <p:cNvSpPr txBox="1"/>
          <p:nvPr/>
        </p:nvSpPr>
        <p:spPr>
          <a:xfrm>
            <a:off x="685800" y="3794760"/>
            <a:ext cx="3611880" cy="7132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Summary with cited source sentence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Severity and confidence ranking</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Override with structured reason</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Weekly labelled evaluation sample</a:t>
            </a:r>
            <a:endParaRPr lang="en-US" sz="1100" dirty="0"/>
          </a:p>
        </p:txBody>
      </p:sp>
      <p:sp>
        <p:nvSpPr>
          <p:cNvPr id="14" name="Shape 12"/>
          <p:cNvSpPr/>
          <p:nvPr/>
        </p:nvSpPr>
        <p:spPr>
          <a:xfrm>
            <a:off x="4709160" y="3337560"/>
            <a:ext cx="3977640" cy="1280160"/>
          </a:xfrm>
          <a:prstGeom prst="roundRect">
            <a:avLst>
              <a:gd name="adj" fmla="val 3571"/>
            </a:avLst>
          </a:prstGeom>
          <a:solidFill>
            <a:srgbClr val="FBF3E7"/>
          </a:solidFill>
          <a:ln w="12700">
            <a:solidFill>
              <a:srgbClr val="D3DCE6"/>
            </a:solidFill>
            <a:prstDash val="solid"/>
          </a:ln>
        </p:spPr>
      </p:sp>
      <p:sp>
        <p:nvSpPr>
          <p:cNvPr id="15" name="Text 13"/>
          <p:cNvSpPr txBox="1"/>
          <p:nvPr/>
        </p:nvSpPr>
        <p:spPr>
          <a:xfrm>
            <a:off x="4892040" y="3465576"/>
            <a:ext cx="36118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Out of scope</a:t>
            </a:r>
            <a:endParaRPr lang="en-US" sz="1400" dirty="0"/>
          </a:p>
        </p:txBody>
      </p:sp>
      <p:sp>
        <p:nvSpPr>
          <p:cNvPr id="16" name="Text 14"/>
          <p:cNvSpPr txBox="1"/>
          <p:nvPr/>
        </p:nvSpPr>
        <p:spPr>
          <a:xfrm>
            <a:off x="4892040" y="3794760"/>
            <a:ext cx="3611880" cy="7132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Any automatic approval</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Any student-facing message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Predictive scoring of a named person</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Model write access to operational tables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05</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The decisions worth defending</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914400"/>
          <a:ext cx="8138160" cy="914400"/>
        </p:xfrm>
        <a:graphic>
          <a:graphicData uri="http://schemas.openxmlformats.org/drawingml/2006/table">
            <a:tbl>
              <a:tblPr/>
              <a:tblGrid>
                <a:gridCol w="1737360"/>
                <a:gridCol w="2286000"/>
                <a:gridCol w="411480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r>
              <a:tr h="384048">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Model / inference</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API — Google Gemini</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Quality is adequate, cost is per-call, switching cost stays in our code</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Workflow, permissions, audit</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Build</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The differentiation, and the part that must be exactly correct</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Database, hosting, queues</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Buy — Supabase, Railway, Redis</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Row-level security at the database layer for a fraction of the cost</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Identity, mail, calendar</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Partner — Google Workspace</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A44"/>
                          </a:solidFill>
                          <a:latin typeface="Calibri" pitchFamily="34" charset="0"/>
                          <a:ea typeface="Calibri" pitchFamily="34" charset="-122"/>
                          <a:cs typeface="Calibri" pitchFamily="34" charset="-120"/>
                        </a:rPr>
                        <a:t>The institution already runs on it</a:t>
                      </a:r>
                      <a:endParaRPr lang="en-US" sz="110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063240"/>
            <a:ext cx="3977640" cy="1554480"/>
          </a:xfrm>
          <a:prstGeom prst="roundRect">
            <a:avLst>
              <a:gd name="adj" fmla="val 2941"/>
            </a:avLst>
          </a:prstGeom>
          <a:solidFill>
            <a:srgbClr val="FBF3E7"/>
          </a:solidFill>
          <a:ln w="12700">
            <a:solidFill>
              <a:srgbClr val="E6D2B5"/>
            </a:solidFill>
            <a:prstDash val="solid"/>
          </a:ln>
        </p:spPr>
      </p:sp>
      <p:sp>
        <p:nvSpPr>
          <p:cNvPr id="6" name="Text 3"/>
          <p:cNvSpPr txBox="1"/>
          <p:nvPr/>
        </p:nvSpPr>
        <p:spPr>
          <a:xfrm>
            <a:off x="685800" y="3182112"/>
            <a:ext cx="3657600" cy="274320"/>
          </a:xfrm>
          <a:prstGeom prst="rect">
            <a:avLst/>
          </a:prstGeom>
          <a:noFill/>
          <a:ln/>
        </p:spPr>
        <p:txBody>
          <a:bodyPr wrap="square" lIns="0" tIns="0" rIns="0" bIns="0" rtlCol="0" anchor="ctr"/>
          <a:lstStyle/>
          <a:p>
            <a:pPr indent="0" marL="0">
              <a:buNone/>
            </a:pPr>
            <a:r>
              <a:rPr lang="en-US" sz="1300" b="1" dirty="0">
                <a:solidFill>
                  <a:srgbClr val="B4690E"/>
                </a:solidFill>
                <a:latin typeface="Calibri" pitchFamily="34" charset="0"/>
                <a:ea typeface="Calibri" pitchFamily="34" charset="-122"/>
                <a:cs typeface="Calibri" pitchFamily="34" charset="-120"/>
              </a:rPr>
              <a:t>Deferred: predictive student-risk scoring</a:t>
            </a:r>
            <a:endParaRPr lang="en-US" sz="1300" dirty="0"/>
          </a:p>
        </p:txBody>
      </p:sp>
      <p:sp>
        <p:nvSpPr>
          <p:cNvPr id="7" name="Text 4"/>
          <p:cNvSpPr txBox="1"/>
          <p:nvPr/>
        </p:nvSpPr>
        <p:spPr>
          <a:xfrm>
            <a:off x="685800" y="3493008"/>
            <a:ext cx="3657600" cy="914400"/>
          </a:xfrm>
          <a:prstGeom prst="rect">
            <a:avLst/>
          </a:prstGeom>
          <a:noFill/>
          <a:ln/>
        </p:spPr>
        <p:txBody>
          <a:bodyPr wrap="square" lIns="0" tIns="0" rIns="0" bIns="0" rtlCol="0" anchor="ctr"/>
          <a:lstStyle/>
          <a:p>
            <a:pPr indent="0" marL="0">
              <a:buNone/>
            </a:pPr>
            <a:r>
              <a:rPr lang="en-US" sz="1150" dirty="0">
                <a:solidFill>
                  <a:srgbClr val="1F2A44"/>
                </a:solidFill>
                <a:latin typeface="Calibri" pitchFamily="34" charset="0"/>
                <a:ea typeface="Calibri" pitchFamily="34" charset="-122"/>
                <a:cs typeface="Calibri" pitchFamily="34" charset="-120"/>
              </a:rPr>
              <a:t>The training data reflects recording habits more than student behaviour, and a wrong prediction attaches to a named student.</a:t>
            </a:r>
            <a:endParaRPr lang="en-US" sz="1150" dirty="0"/>
          </a:p>
        </p:txBody>
      </p:sp>
      <p:sp>
        <p:nvSpPr>
          <p:cNvPr id="8" name="Shape 5"/>
          <p:cNvSpPr/>
          <p:nvPr/>
        </p:nvSpPr>
        <p:spPr>
          <a:xfrm>
            <a:off x="4709160" y="3063240"/>
            <a:ext cx="3977640" cy="1554480"/>
          </a:xfrm>
          <a:prstGeom prst="roundRect">
            <a:avLst>
              <a:gd name="adj" fmla="val 2941"/>
            </a:avLst>
          </a:prstGeom>
          <a:solidFill>
            <a:srgbClr val="FBF3E7"/>
          </a:solidFill>
          <a:ln w="12700">
            <a:solidFill>
              <a:srgbClr val="E6D2B5"/>
            </a:solidFill>
            <a:prstDash val="solid"/>
          </a:ln>
        </p:spPr>
      </p:sp>
      <p:sp>
        <p:nvSpPr>
          <p:cNvPr id="9" name="Text 6"/>
          <p:cNvSpPr txBox="1"/>
          <p:nvPr/>
        </p:nvSpPr>
        <p:spPr>
          <a:xfrm>
            <a:off x="4892040" y="3182112"/>
            <a:ext cx="3657600" cy="274320"/>
          </a:xfrm>
          <a:prstGeom prst="rect">
            <a:avLst/>
          </a:prstGeom>
          <a:noFill/>
          <a:ln/>
        </p:spPr>
        <p:txBody>
          <a:bodyPr wrap="square" lIns="0" tIns="0" rIns="0" bIns="0" rtlCol="0" anchor="ctr"/>
          <a:lstStyle/>
          <a:p>
            <a:pPr indent="0" marL="0">
              <a:buNone/>
            </a:pPr>
            <a:r>
              <a:rPr lang="en-US" sz="1300" b="1" dirty="0">
                <a:solidFill>
                  <a:srgbClr val="B4690E"/>
                </a:solidFill>
                <a:latin typeface="Calibri" pitchFamily="34" charset="0"/>
                <a:ea typeface="Calibri" pitchFamily="34" charset="-122"/>
                <a:cs typeface="Calibri" pitchFamily="34" charset="-120"/>
              </a:rPr>
              <a:t>Rejected: AI-scored staff performance</a:t>
            </a:r>
            <a:endParaRPr lang="en-US" sz="1300" dirty="0"/>
          </a:p>
        </p:txBody>
      </p:sp>
      <p:sp>
        <p:nvSpPr>
          <p:cNvPr id="10" name="Text 7"/>
          <p:cNvSpPr txBox="1"/>
          <p:nvPr/>
        </p:nvSpPr>
        <p:spPr>
          <a:xfrm>
            <a:off x="4892040" y="3493008"/>
            <a:ext cx="3657600" cy="914400"/>
          </a:xfrm>
          <a:prstGeom prst="rect">
            <a:avLst/>
          </a:prstGeom>
          <a:noFill/>
          <a:ln/>
        </p:spPr>
        <p:txBody>
          <a:bodyPr wrap="square" lIns="0" tIns="0" rIns="0" bIns="0" rtlCol="0" anchor="ctr"/>
          <a:lstStyle/>
          <a:p>
            <a:pPr indent="0" marL="0">
              <a:buNone/>
            </a:pPr>
            <a:r>
              <a:rPr lang="en-US" sz="1150" dirty="0">
                <a:solidFill>
                  <a:srgbClr val="1F2A44"/>
                </a:solidFill>
                <a:latin typeface="Calibri" pitchFamily="34" charset="0"/>
                <a:ea typeface="Calibri" pitchFamily="34" charset="-122"/>
                <a:cs typeface="Calibri" pitchFamily="34" charset="-120"/>
              </a:rPr>
              <a:t>It turns an operations tool into a surveillance instrument, which destroys the honest daily reporting the platform depends 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06</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Phases end at proof gates, not at dates</a:t>
            </a:r>
            <a:endParaRPr lang="en-US" sz="2600" dirty="0"/>
          </a:p>
        </p:txBody>
      </p:sp>
      <p:sp>
        <p:nvSpPr>
          <p:cNvPr id="4" name="Text 2"/>
          <p:cNvSpPr txBox="1"/>
          <p:nvPr/>
        </p:nvSpPr>
        <p:spPr>
          <a:xfrm>
            <a:off x="502920" y="868680"/>
            <a:ext cx="8138160" cy="365760"/>
          </a:xfrm>
          <a:prstGeom prst="rect">
            <a:avLst/>
          </a:prstGeom>
          <a:noFill/>
          <a:ln/>
        </p:spPr>
        <p:txBody>
          <a:bodyPr wrap="square" rtlCol="0" anchor="t"/>
          <a:lstStyle/>
          <a:p>
            <a:pPr indent="0" marL="0">
              <a:buNone/>
            </a:pPr>
            <a:r>
              <a:rPr lang="en-US" sz="1300" dirty="0">
                <a:solidFill>
                  <a:srgbClr val="1F2A44"/>
                </a:solidFill>
                <a:latin typeface="Calibri" pitchFamily="34" charset="0"/>
                <a:ea typeface="Calibri" pitchFamily="34" charset="-122"/>
                <a:cs typeface="Calibri" pitchFamily="34" charset="-120"/>
              </a:rPr>
              <a:t>Phase 2 does not start because Phase 1 finished. It starts because Phase 1 met a measured threshold.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1463040"/>
                <a:gridCol w="3749040"/>
                <a:gridCol w="292608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Focus</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Gate before proceeding</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r>
              <a:tr h="411480">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0 — done</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Deterministic platform; narrative summaries and meeting intelligence live</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Adopted as the daily system of record</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1 — MVP pilot</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Daily operations triage on five campuses for one month, assist-only, with the evaluation harness</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Recall, groundedness, override band and reviewer trust all met</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2 — expansion</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All 40 campuses; cross-campus patterns; OCR intake; budget completeness checks</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Cost per campus-month within ceiling; zero scoping breaches</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3 — assisted exams</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Paper equivalence assistance and portion inference, faculty approval mandatory</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Zero AI-only paper approvals; academic governance sign-off</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4 — productisation</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Assess offering the platform to peer institutions</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A44"/>
                          </a:solidFill>
                          <a:latin typeface="Calibri" pitchFamily="34" charset="0"/>
                          <a:ea typeface="Calibri" pitchFamily="34" charset="-122"/>
                          <a:cs typeface="Calibri" pitchFamily="34" charset="-120"/>
                        </a:rPr>
                        <a:t>Two stable quarters and a defensible support model</a:t>
                      </a:r>
                      <a:endParaRPr lang="en-US" sz="10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977640"/>
            <a:ext cx="8138160" cy="731520"/>
          </a:xfrm>
          <a:prstGeom prst="roundRect">
            <a:avLst>
              <a:gd name="adj" fmla="val 6250"/>
            </a:avLst>
          </a:prstGeom>
          <a:solidFill>
            <a:srgbClr val="E9F1F3"/>
          </a:solidFill>
          <a:ln w="12700">
            <a:solidFill>
              <a:srgbClr val="0E7C86"/>
            </a:solidFill>
            <a:prstDash val="solid"/>
          </a:ln>
        </p:spPr>
      </p:sp>
      <p:sp>
        <p:nvSpPr>
          <p:cNvPr id="7" name="Text 4"/>
          <p:cNvSpPr txBox="1"/>
          <p:nvPr/>
        </p:nvSpPr>
        <p:spPr>
          <a:xfrm>
            <a:off x="731520" y="4078224"/>
            <a:ext cx="7680960" cy="548640"/>
          </a:xfrm>
          <a:prstGeom prst="rect">
            <a:avLst/>
          </a:prstGeom>
          <a:noFill/>
          <a:ln/>
        </p:spPr>
        <p:txBody>
          <a:bodyPr wrap="square" lIns="0" tIns="0" rIns="0" bIns="0" rtlCol="0" anchor="t"/>
          <a:lstStyle/>
          <a:p>
            <a:pPr indent="0" marL="0">
              <a:buNone/>
            </a:pPr>
            <a:r>
              <a:rPr lang="en-US" sz="1200" i="1" dirty="0">
                <a:solidFill>
                  <a:srgbClr val="17263F"/>
                </a:solidFill>
                <a:latin typeface="Calibri" pitchFamily="34" charset="0"/>
                <a:ea typeface="Calibri" pitchFamily="34" charset="-122"/>
                <a:cs typeface="Calibri" pitchFamily="34" charset="-120"/>
              </a:rPr>
              <a:t>Two AI ideas were cut from this plan rather than sequenced later: predictive student-risk scoring and AI-scored staff performance. Cost of error, not value, is what removed them.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07</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The prototype is the production system</a:t>
            </a:r>
            <a:endParaRPr lang="en-US" sz="2600" dirty="0"/>
          </a:p>
        </p:txBody>
      </p:sp>
      <p:pic>
        <p:nvPicPr>
          <p:cNvPr id="4" name="Image 0" descr="/home/claude/inbox/appendix/jpg/A46-seating-plan.jpg">    </p:cNvPr>
          <p:cNvPicPr>
            <a:picLocks noChangeAspect="1"/>
          </p:cNvPicPr>
          <p:nvPr/>
        </p:nvPicPr>
        <p:blipFill>
          <a:blip r:embed="rId1"/>
          <a:stretch>
            <a:fillRect/>
          </a:stretch>
        </p:blipFill>
        <p:spPr>
          <a:xfrm>
            <a:off x="502920" y="914400"/>
            <a:ext cx="5029200" cy="2286000"/>
          </a:xfrm>
          <a:prstGeom prst="rect">
            <a:avLst/>
          </a:prstGeom>
        </p:spPr>
      </p:pic>
      <p:sp>
        <p:nvSpPr>
          <p:cNvPr id="5" name="Text 2"/>
          <p:cNvSpPr txBox="1"/>
          <p:nvPr/>
        </p:nvSpPr>
        <p:spPr>
          <a:xfrm>
            <a:off x="502920" y="3246120"/>
            <a:ext cx="5029200" cy="685800"/>
          </a:xfrm>
          <a:prstGeom prst="rect">
            <a:avLst/>
          </a:prstGeom>
          <a:noFill/>
          <a:ln/>
        </p:spPr>
        <p:txBody>
          <a:bodyPr wrap="square" rtlCol="0" anchor="t"/>
          <a:lstStyle/>
          <a:p>
            <a:pPr indent="0" marL="0">
              <a:buNone/>
            </a:pPr>
            <a:r>
              <a:rPr lang="en-US" sz="1100" dirty="0">
                <a:solidFill>
                  <a:srgbClr val="1F2A44"/>
                </a:solidFill>
                <a:latin typeface="Calibri" pitchFamily="34" charset="0"/>
                <a:ea typeface="Calibri" pitchFamily="34" charset="-122"/>
                <a:cs typeface="Calibri" pitchFamily="34" charset="-120"/>
              </a:rPr>
              <a:t>Seating allocation: 67 of 67 seats filled, interleaving constraint satisfied, every classroom reporting no violations. An invalid plan is flagged, never silently emitted.</a:t>
            </a:r>
            <a:endParaRPr lang="en-US" sz="1100" dirty="0"/>
          </a:p>
        </p:txBody>
      </p:sp>
      <p:pic>
        <p:nvPicPr>
          <p:cNvPr id="6" name="Image 1" descr="/home/claude/inbox/appendix/jpg/A27-paper-editor-actions.jpg">    </p:cNvPr>
          <p:cNvPicPr>
            <a:picLocks noChangeAspect="1"/>
          </p:cNvPicPr>
          <p:nvPr/>
        </p:nvPicPr>
        <p:blipFill>
          <a:blip r:embed="rId2"/>
          <a:stretch>
            <a:fillRect/>
          </a:stretch>
        </p:blipFill>
        <p:spPr>
          <a:xfrm>
            <a:off x="5760720" y="914400"/>
            <a:ext cx="2926080" cy="1325880"/>
          </a:xfrm>
          <a:prstGeom prst="rect">
            <a:avLst/>
          </a:prstGeom>
        </p:spPr>
      </p:pic>
      <p:sp>
        <p:nvSpPr>
          <p:cNvPr id="7" name="Text 3"/>
          <p:cNvSpPr txBox="1"/>
          <p:nvPr/>
        </p:nvSpPr>
        <p:spPr>
          <a:xfrm>
            <a:off x="5760720" y="2286000"/>
            <a:ext cx="2926080" cy="548640"/>
          </a:xfrm>
          <a:prstGeom prst="rect">
            <a:avLst/>
          </a:prstGeom>
          <a:noFill/>
          <a:ln/>
        </p:spPr>
        <p:txBody>
          <a:bodyPr wrap="square" rtlCol="0" anchor="ctr"/>
          <a:lstStyle/>
          <a:p>
            <a:pPr indent="0" marL="0">
              <a:buNone/>
            </a:pPr>
            <a:r>
              <a:rPr lang="en-US" sz="1050" dirty="0">
                <a:solidFill>
                  <a:srgbClr val="1F2A44"/>
                </a:solidFill>
                <a:latin typeface="Calibri" pitchFamily="34" charset="0"/>
                <a:ea typeface="Calibri" pitchFamily="34" charset="-122"/>
                <a:cs typeface="Calibri" pitchFamily="34" charset="-120"/>
              </a:rPr>
              <a:t>Paper generation ends at Send for Approval — a person approves, and any question can be swapped.</a:t>
            </a:r>
            <a:endParaRPr lang="en-US" sz="1050" dirty="0"/>
          </a:p>
        </p:txBody>
      </p:sp>
      <p:pic>
        <p:nvPicPr>
          <p:cNvPr id="8" name="Image 2" descr="/home/claude/inbox/appendix/jpg/A64-budget-order-tracking.jpg">    </p:cNvPr>
          <p:cNvPicPr>
            <a:picLocks noChangeAspect="1"/>
          </p:cNvPicPr>
          <p:nvPr/>
        </p:nvPicPr>
        <p:blipFill>
          <a:blip r:embed="rId3"/>
          <a:stretch>
            <a:fillRect/>
          </a:stretch>
        </p:blipFill>
        <p:spPr>
          <a:xfrm>
            <a:off x="5760720" y="2880360"/>
            <a:ext cx="2926080" cy="1325880"/>
          </a:xfrm>
          <a:prstGeom prst="rect">
            <a:avLst/>
          </a:prstGeom>
        </p:spPr>
      </p:pic>
      <p:sp>
        <p:nvSpPr>
          <p:cNvPr id="9" name="Text 4"/>
          <p:cNvSpPr txBox="1"/>
          <p:nvPr/>
        </p:nvSpPr>
        <p:spPr>
          <a:xfrm>
            <a:off x="5760720" y="4251960"/>
            <a:ext cx="2926080" cy="411480"/>
          </a:xfrm>
          <a:prstGeom prst="rect">
            <a:avLst/>
          </a:prstGeom>
          <a:noFill/>
          <a:ln/>
        </p:spPr>
        <p:txBody>
          <a:bodyPr wrap="square" rtlCol="0" anchor="ctr"/>
          <a:lstStyle/>
          <a:p>
            <a:pPr indent="0" marL="0">
              <a:buNone/>
            </a:pPr>
            <a:r>
              <a:rPr lang="en-US" sz="1050" dirty="0">
                <a:solidFill>
                  <a:srgbClr val="1F2A44"/>
                </a:solidFill>
                <a:latin typeface="Calibri" pitchFamily="34" charset="0"/>
                <a:ea typeface="Calibri" pitchFamily="34" charset="-122"/>
                <a:cs typeface="Calibri" pitchFamily="34" charset="-120"/>
              </a:rPr>
              <a:t>The budget path: no AI anywhere in it, threshold rule printed on the screen.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08</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How we would know it worked</a:t>
            </a:r>
            <a:endParaRPr lang="en-US" sz="2600" dirty="0"/>
          </a:p>
        </p:txBody>
      </p:sp>
      <p:sp>
        <p:nvSpPr>
          <p:cNvPr id="4" name="Text 2"/>
          <p:cNvSpPr txBox="1"/>
          <p:nvPr/>
        </p:nvSpPr>
        <p:spPr>
          <a:xfrm>
            <a:off x="502920" y="868680"/>
            <a:ext cx="8138160" cy="457200"/>
          </a:xfrm>
          <a:prstGeom prst="rect">
            <a:avLst/>
          </a:prstGeom>
          <a:noFill/>
          <a:ln/>
        </p:spPr>
        <p:txBody>
          <a:bodyPr wrap="square" rtlCol="0" anchor="t"/>
          <a:lstStyle/>
          <a:p>
            <a:pPr indent="0" marL="0">
              <a:buNone/>
            </a:pPr>
            <a:r>
              <a:rPr lang="en-US" sz="1250" dirty="0">
                <a:solidFill>
                  <a:srgbClr val="1F2A44"/>
                </a:solidFill>
                <a:latin typeface="Calibri" pitchFamily="34" charset="0"/>
                <a:ea typeface="Calibri" pitchFamily="34" charset="-122"/>
                <a:cs typeface="Calibri" pitchFamily="34" charset="-120"/>
              </a:rPr>
              <a:t>Two baselines run alongside the pilot, so the comparison is measured rather than argued: today’s chronological queue, and a rules-only ordering that could be built in a week.</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8138160" cy="914400"/>
        </p:xfrm>
        <a:graphic>
          <a:graphicData uri="http://schemas.openxmlformats.org/drawingml/2006/table">
            <a:tbl>
              <a:tblPr/>
              <a:tblGrid>
                <a:gridCol w="4846320"/>
                <a:gridCol w="329184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Gate</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Threshold, fixed before the pilot</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17263F"/>
                    </a:solidFill>
                  </a:tcPr>
                </a:tc>
              </a:tr>
              <a:tr h="402336">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Serious-issue recall on the weekly labelled sample</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 0.90 sustained over four weeks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Summary statements not supported by the source</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 2% of sampled statements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Reviewer override rate</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Between 10% and 25% — two-sided</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Campus-scoping or permission violations</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c>
                  <a:txBody>
                    <a:bodyPr/>
                    <a:lstStyle/>
                    <a:p>
                      <a:pPr indent="0" marL="0">
                        <a:buNone/>
                      </a:pPr>
                      <a:r>
                        <a:rPr lang="en-US" sz="1150" dirty="0">
                          <a:solidFill>
                            <a:srgbClr val="1F2A44"/>
                          </a:solidFill>
                          <a:latin typeface="Calibri" pitchFamily="34" charset="0"/>
                          <a:ea typeface="Calibri" pitchFamily="34" charset="-122"/>
                          <a:cs typeface="Calibri" pitchFamily="34" charset="-120"/>
                        </a:rPr>
                        <a:t>Exactly zero — absolute blocker</a:t>
                      </a:r>
                      <a:endParaRPr lang="en-US" sz="1150" dirty="0">
                        <a:latin typeface="Calibri" charset="0"/>
                        <a:ea typeface="Calibri" charset="0"/>
                        <a:cs typeface="Calibri" charset="0"/>
                      </a:endParaRPr>
                    </a:p>
                  </a:txBody>
                  <a:tcPr marL="91440" marR="91440" marT="45720" marB="45720" anchor="ctr">
                    <a:lnL w="6350" cap="flat" cmpd="sng" algn="ctr">
                      <a:solidFill>
                        <a:srgbClr val="D3DCE6"/>
                      </a:solidFill>
                      <a:prstDash val="solid"/>
                      <a:round/>
                      <a:headEnd type="none" w="med" len="med"/>
                      <a:tailEnd type="none" w="med" len="med"/>
                    </a:lnL>
                    <a:lnR w="6350" cap="flat" cmpd="sng" algn="ctr">
                      <a:solidFill>
                        <a:srgbClr val="D3DCE6"/>
                      </a:solidFill>
                      <a:prstDash val="solid"/>
                      <a:round/>
                      <a:headEnd type="none" w="med" len="med"/>
                      <a:tailEnd type="none" w="med" len="med"/>
                    </a:lnR>
                    <a:lnT w="6350" cap="flat" cmpd="sng" algn="ctr">
                      <a:solidFill>
                        <a:srgbClr val="D3DCE6"/>
                      </a:solidFill>
                      <a:prstDash val="solid"/>
                      <a:round/>
                      <a:headEnd type="none" w="med" len="med"/>
                      <a:tailEnd type="none" w="med" len="med"/>
                    </a:lnT>
                    <a:lnB w="6350" cap="flat" cmpd="sng" algn="ctr">
                      <a:solidFill>
                        <a:srgbClr val="D3DCE6"/>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611880"/>
            <a:ext cx="8138160" cy="1005840"/>
          </a:xfrm>
          <a:prstGeom prst="roundRect">
            <a:avLst>
              <a:gd name="adj" fmla="val 4545"/>
            </a:avLst>
          </a:prstGeom>
          <a:solidFill>
            <a:srgbClr val="E9F1F3"/>
          </a:solidFill>
          <a:ln w="12700">
            <a:solidFill>
              <a:srgbClr val="0E7C86"/>
            </a:solidFill>
            <a:prstDash val="solid"/>
          </a:ln>
        </p:spPr>
      </p:sp>
      <p:sp>
        <p:nvSpPr>
          <p:cNvPr id="7" name="Text 4"/>
          <p:cNvSpPr txBox="1"/>
          <p:nvPr/>
        </p:nvSpPr>
        <p:spPr>
          <a:xfrm>
            <a:off x="731520" y="3767328"/>
            <a:ext cx="7680960" cy="731520"/>
          </a:xfrm>
          <a:prstGeom prst="rect">
            <a:avLst/>
          </a:prstGeom>
          <a:noFill/>
          <a:ln/>
        </p:spPr>
        <p:txBody>
          <a:bodyPr wrap="square" lIns="0" tIns="0" rIns="0" bIns="0" rtlCol="0" anchor="ctr"/>
          <a:lstStyle/>
          <a:p>
            <a:pPr indent="0" marL="0">
              <a:buNone/>
            </a:pPr>
            <a:r>
              <a:rPr lang="en-US" sz="1300" i="1" dirty="0">
                <a:solidFill>
                  <a:srgbClr val="17263F"/>
                </a:solidFill>
                <a:latin typeface="Calibri" pitchFamily="34" charset="0"/>
                <a:ea typeface="Calibri" pitchFamily="34" charset="-122"/>
                <a:cs typeface="Calibri" pitchFamily="34" charset="-120"/>
              </a:rPr>
              <a:t>The override band is deliberately two-sided. Below 10% is not success — it is the first symptom of reviewers rubber-stamping, which is the failure this design fears most.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09</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Economics: one campus, one month</a:t>
            </a:r>
            <a:endParaRPr lang="en-US" sz="2600" dirty="0"/>
          </a:p>
        </p:txBody>
      </p:sp>
      <p:sp>
        <p:nvSpPr>
          <p:cNvPr id="4" name="Shape 2"/>
          <p:cNvSpPr/>
          <p:nvPr/>
        </p:nvSpPr>
        <p:spPr>
          <a:xfrm>
            <a:off x="502920" y="914400"/>
            <a:ext cx="8138160" cy="1143000"/>
          </a:xfrm>
          <a:prstGeom prst="roundRect">
            <a:avLst>
              <a:gd name="adj" fmla="val 4000"/>
            </a:avLst>
          </a:prstGeom>
          <a:solidFill>
            <a:srgbClr val="17263F"/>
          </a:solidFill>
          <a:ln w="12700">
            <a:solidFill>
              <a:srgbClr val="17263F"/>
            </a:solidFill>
            <a:prstDash val="solid"/>
          </a:ln>
        </p:spPr>
      </p:sp>
      <p:sp>
        <p:nvSpPr>
          <p:cNvPr id="5" name="Text 3"/>
          <p:cNvSpPr txBox="1"/>
          <p:nvPr/>
        </p:nvSpPr>
        <p:spPr>
          <a:xfrm>
            <a:off x="731520" y="1097280"/>
            <a:ext cx="768096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Inference and infrastructure per campus, plus amortised maintenance, must stay materially below the loaded cost of the reviewer and associate hours removed — at every campus count between five and forty.</a:t>
            </a:r>
            <a:endParaRPr lang="en-US" sz="1400" dirty="0"/>
          </a:p>
        </p:txBody>
      </p:sp>
      <p:sp>
        <p:nvSpPr>
          <p:cNvPr id="6" name="Shape 4"/>
          <p:cNvSpPr/>
          <p:nvPr/>
        </p:nvSpPr>
        <p:spPr>
          <a:xfrm>
            <a:off x="502920" y="2240280"/>
            <a:ext cx="3977640" cy="1371600"/>
          </a:xfrm>
          <a:prstGeom prst="roundRect">
            <a:avLst>
              <a:gd name="adj" fmla="val 3333"/>
            </a:avLst>
          </a:prstGeom>
          <a:solidFill>
            <a:srgbClr val="F6F8FB"/>
          </a:solidFill>
          <a:ln w="12700">
            <a:solidFill>
              <a:srgbClr val="D3DCE6"/>
            </a:solidFill>
            <a:prstDash val="solid"/>
          </a:ln>
        </p:spPr>
      </p:sp>
      <p:sp>
        <p:nvSpPr>
          <p:cNvPr id="7" name="Text 5"/>
          <p:cNvSpPr txBox="1"/>
          <p:nvPr/>
        </p:nvSpPr>
        <p:spPr>
          <a:xfrm>
            <a:off x="685800" y="2368296"/>
            <a:ext cx="36118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Why it should hold</a:t>
            </a:r>
            <a:endParaRPr lang="en-US" sz="1400" dirty="0"/>
          </a:p>
        </p:txBody>
      </p:sp>
      <p:sp>
        <p:nvSpPr>
          <p:cNvPr id="8" name="Text 6"/>
          <p:cNvSpPr txBox="1"/>
          <p:nvPr/>
        </p:nvSpPr>
        <p:spPr>
          <a:xfrm>
            <a:off x="685800" y="2697480"/>
            <a:ext cx="3611880" cy="80467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 daily report is a small amount of text</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~22 working days bounds call volume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The hours displaced are managerial</a:t>
            </a:r>
            <a:endParaRPr lang="en-US" sz="1100" dirty="0"/>
          </a:p>
        </p:txBody>
      </p:sp>
      <p:sp>
        <p:nvSpPr>
          <p:cNvPr id="9" name="Shape 7"/>
          <p:cNvSpPr/>
          <p:nvPr/>
        </p:nvSpPr>
        <p:spPr>
          <a:xfrm>
            <a:off x="4709160" y="2240280"/>
            <a:ext cx="3977640" cy="1371600"/>
          </a:xfrm>
          <a:prstGeom prst="roundRect">
            <a:avLst>
              <a:gd name="adj" fmla="val 3333"/>
            </a:avLst>
          </a:prstGeom>
          <a:solidFill>
            <a:srgbClr val="FBF3E7"/>
          </a:solidFill>
          <a:ln w="12700">
            <a:solidFill>
              <a:srgbClr val="D3DCE6"/>
            </a:solidFill>
            <a:prstDash val="solid"/>
          </a:ln>
        </p:spPr>
      </p:sp>
      <p:sp>
        <p:nvSpPr>
          <p:cNvPr id="10" name="Text 8"/>
          <p:cNvSpPr txBox="1"/>
          <p:nvPr/>
        </p:nvSpPr>
        <p:spPr>
          <a:xfrm>
            <a:off x="4892040" y="2368296"/>
            <a:ext cx="361188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What could break it</a:t>
            </a:r>
            <a:endParaRPr lang="en-US" sz="1400" dirty="0"/>
          </a:p>
        </p:txBody>
      </p:sp>
      <p:sp>
        <p:nvSpPr>
          <p:cNvPr id="11" name="Text 9"/>
          <p:cNvSpPr txBox="1"/>
          <p:nvPr/>
        </p:nvSpPr>
        <p:spPr>
          <a:xfrm>
            <a:off x="4892040" y="2697480"/>
            <a:ext cx="3611880" cy="80467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Context size growing beyond seven days</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Extending to high-volume, low-value items</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Both controlled by pinned configuration</a:t>
            </a:r>
            <a:endParaRPr lang="en-US" sz="1100" dirty="0"/>
          </a:p>
        </p:txBody>
      </p:sp>
      <p:sp>
        <p:nvSpPr>
          <p:cNvPr id="12" name="Text 10"/>
          <p:cNvSpPr txBox="1"/>
          <p:nvPr/>
        </p:nvSpPr>
        <p:spPr>
          <a:xfrm>
            <a:off x="502920" y="3767328"/>
            <a:ext cx="8138160" cy="502920"/>
          </a:xfrm>
          <a:prstGeom prst="rect">
            <a:avLst/>
          </a:prstGeom>
          <a:noFill/>
          <a:ln/>
        </p:spPr>
        <p:txBody>
          <a:bodyPr wrap="square" rtlCol="0" anchor="t"/>
          <a:lstStyle/>
          <a:p>
            <a:pPr indent="0" marL="0">
              <a:buNone/>
            </a:pPr>
            <a:r>
              <a:rPr lang="en-US" sz="1150" i="1" dirty="0">
                <a:solidFill>
                  <a:srgbClr val="5A6B85"/>
                </a:solidFill>
                <a:latin typeface="Calibri" pitchFamily="34" charset="0"/>
                <a:ea typeface="Calibri" pitchFamily="34" charset="-122"/>
                <a:cs typeface="Calibri" pitchFamily="34" charset="-120"/>
              </a:rPr>
              <a:t>Rupee figures are computed from measured pilot volumes and current API pricing rather than presented as an estimate. A fabricated cost table would be the fastest way to lose the argument.</a:t>
            </a:r>
            <a:endParaRPr lang="en-US" sz="1150" dirty="0"/>
          </a:p>
        </p:txBody>
      </p:sp>
      <p:sp>
        <p:nvSpPr>
          <p:cNvPr id="13" name="Text 11"/>
          <p:cNvSpPr txBox="1"/>
          <p:nvPr/>
        </p:nvSpPr>
        <p:spPr>
          <a:xfrm>
            <a:off x="502920" y="4279392"/>
            <a:ext cx="8138160" cy="457200"/>
          </a:xfrm>
          <a:prstGeom prst="rect">
            <a:avLst/>
          </a:prstGeom>
          <a:noFill/>
          <a:ln/>
        </p:spPr>
        <p:txBody>
          <a:bodyPr wrap="square" rtlCol="0" anchor="t"/>
          <a:lstStyle/>
          <a:p>
            <a:pPr indent="0" marL="0">
              <a:buNone/>
            </a:pPr>
            <a:r>
              <a:rPr lang="en-US" sz="1100" dirty="0">
                <a:solidFill>
                  <a:srgbClr val="1F2A44"/>
                </a:solidFill>
                <a:latin typeface="Calibri" pitchFamily="34" charset="0"/>
                <a:ea typeface="Calibri" pitchFamily="34" charset="-122"/>
                <a:cs typeface="Calibri" pitchFamily="34" charset="-120"/>
              </a:rPr>
              <a:t>Scaling risks: latency at the 16:00 burst · linear cost growth · per-campus exception creep · governance overhead · single-builder dependency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502920" cy="36576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10</a:t>
            </a:r>
            <a:endParaRPr lang="en-US" sz="2000" dirty="0"/>
          </a:p>
        </p:txBody>
      </p:sp>
      <p:sp>
        <p:nvSpPr>
          <p:cNvPr id="3" name="Text 1"/>
          <p:cNvSpPr txBox="1"/>
          <p:nvPr/>
        </p:nvSpPr>
        <p:spPr>
          <a:xfrm>
            <a:off x="1051560" y="274320"/>
            <a:ext cx="7589520" cy="457200"/>
          </a:xfrm>
          <a:prstGeom prst="rect">
            <a:avLst/>
          </a:prstGeom>
          <a:noFill/>
          <a:ln/>
        </p:spPr>
        <p:txBody>
          <a:bodyPr wrap="square" lIns="0" tIns="0" rIns="0" bIns="0" rtlCol="0" anchor="ctr"/>
          <a:lstStyle/>
          <a:p>
            <a:pPr indent="0" marL="0">
              <a:buNone/>
            </a:pPr>
            <a:r>
              <a:rPr lang="en-US" sz="2600" b="1" dirty="0">
                <a:solidFill>
                  <a:srgbClr val="17263F"/>
                </a:solidFill>
                <a:latin typeface="Cambria" pitchFamily="34" charset="0"/>
                <a:ea typeface="Cambria" pitchFamily="34" charset="-122"/>
                <a:cs typeface="Cambria" pitchFamily="34" charset="-120"/>
              </a:rPr>
              <a:t>The risk that actually worries us</a:t>
            </a:r>
            <a:endParaRPr lang="en-US" sz="2600" dirty="0"/>
          </a:p>
        </p:txBody>
      </p:sp>
      <p:sp>
        <p:nvSpPr>
          <p:cNvPr id="4" name="Shape 2"/>
          <p:cNvSpPr/>
          <p:nvPr/>
        </p:nvSpPr>
        <p:spPr>
          <a:xfrm>
            <a:off x="502920" y="868680"/>
            <a:ext cx="8138160" cy="960120"/>
          </a:xfrm>
          <a:prstGeom prst="roundRect">
            <a:avLst>
              <a:gd name="adj" fmla="val 4762"/>
            </a:avLst>
          </a:prstGeom>
          <a:solidFill>
            <a:srgbClr val="FBF3E7"/>
          </a:solidFill>
          <a:ln w="12700">
            <a:solidFill>
              <a:srgbClr val="E6D2B5"/>
            </a:solidFill>
            <a:prstDash val="solid"/>
          </a:ln>
        </p:spPr>
      </p:sp>
      <p:sp>
        <p:nvSpPr>
          <p:cNvPr id="5" name="Text 3"/>
          <p:cNvSpPr txBox="1"/>
          <p:nvPr/>
        </p:nvSpPr>
        <p:spPr>
          <a:xfrm>
            <a:off x="731520" y="1024128"/>
            <a:ext cx="7680960" cy="68580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Automation complacency: reviewers stop reading the source reports, oversight becomes ceremonial, and the platform has made the institution less informed while appearing more informed.</a:t>
            </a:r>
            <a:endParaRPr lang="en-US" sz="1400" dirty="0"/>
          </a:p>
        </p:txBody>
      </p:sp>
      <p:pic>
        <p:nvPicPr>
          <p:cNvPr id="6" name="Image 0" descr="/home/claude/inbox/appendix/jpg/A35-ops-copilot.jpg">    </p:cNvPr>
          <p:cNvPicPr>
            <a:picLocks noChangeAspect="1"/>
          </p:cNvPicPr>
          <p:nvPr/>
        </p:nvPicPr>
        <p:blipFill>
          <a:blip r:embed="rId1"/>
          <a:stretch>
            <a:fillRect/>
          </a:stretch>
        </p:blipFill>
        <p:spPr>
          <a:xfrm>
            <a:off x="502920" y="1965960"/>
            <a:ext cx="4114800" cy="1874520"/>
          </a:xfrm>
          <a:prstGeom prst="rect">
            <a:avLst/>
          </a:prstGeom>
        </p:spPr>
      </p:pic>
      <p:sp>
        <p:nvSpPr>
          <p:cNvPr id="7" name="Text 4"/>
          <p:cNvSpPr txBox="1"/>
          <p:nvPr/>
        </p:nvSpPr>
        <p:spPr>
          <a:xfrm>
            <a:off x="502920" y="3886200"/>
            <a:ext cx="4114800" cy="731520"/>
          </a:xfrm>
          <a:prstGeom prst="rect">
            <a:avLst/>
          </a:prstGeom>
          <a:noFill/>
          <a:ln/>
        </p:spPr>
        <p:txBody>
          <a:bodyPr wrap="square" rtlCol="0" anchor="t"/>
          <a:lstStyle/>
          <a:p>
            <a:pPr indent="0" marL="0">
              <a:buNone/>
            </a:pPr>
            <a:r>
              <a:rPr lang="en-US" sz="1050" dirty="0">
                <a:solidFill>
                  <a:srgbClr val="1F2A44"/>
                </a:solidFill>
                <a:latin typeface="Calibri" pitchFamily="34" charset="0"/>
                <a:ea typeface="Calibri" pitchFamily="34" charset="-122"/>
                <a:cs typeface="Calibri" pitchFamily="34" charset="-120"/>
              </a:rPr>
              <a:t>Risk R1, demonstrated rather than asserted: on this day the generated summary reported a complete absence of activity, on a screen showing 355 of 369 sessions completed.</a:t>
            </a:r>
            <a:endParaRPr lang="en-US" sz="1050" dirty="0"/>
          </a:p>
        </p:txBody>
      </p:sp>
      <p:sp>
        <p:nvSpPr>
          <p:cNvPr id="8" name="Shape 5"/>
          <p:cNvSpPr/>
          <p:nvPr/>
        </p:nvSpPr>
        <p:spPr>
          <a:xfrm>
            <a:off x="4846320" y="1965960"/>
            <a:ext cx="3840480" cy="2651760"/>
          </a:xfrm>
          <a:prstGeom prst="roundRect">
            <a:avLst>
              <a:gd name="adj" fmla="val 1724"/>
            </a:avLst>
          </a:prstGeom>
          <a:solidFill>
            <a:srgbClr val="E9F1F3"/>
          </a:solidFill>
          <a:ln w="12700">
            <a:solidFill>
              <a:srgbClr val="D3DCE6"/>
            </a:solidFill>
            <a:prstDash val="solid"/>
          </a:ln>
        </p:spPr>
      </p:sp>
      <p:sp>
        <p:nvSpPr>
          <p:cNvPr id="9" name="Text 6"/>
          <p:cNvSpPr txBox="1"/>
          <p:nvPr/>
        </p:nvSpPr>
        <p:spPr>
          <a:xfrm>
            <a:off x="5029200" y="2093976"/>
            <a:ext cx="3474720" cy="320040"/>
          </a:xfrm>
          <a:prstGeom prst="rect">
            <a:avLst/>
          </a:prstGeom>
          <a:noFill/>
          <a:ln/>
        </p:spPr>
        <p:txBody>
          <a:bodyPr wrap="square" lIns="0" tIns="0" rIns="0" bIns="0" rtlCol="0" anchor="ctr"/>
          <a:lstStyle/>
          <a:p>
            <a:pPr indent="0" marL="0">
              <a:buNone/>
            </a:pPr>
            <a:r>
              <a:rPr lang="en-US" sz="1400" b="1" dirty="0">
                <a:solidFill>
                  <a:srgbClr val="17263F"/>
                </a:solidFill>
                <a:latin typeface="Calibri" pitchFamily="34" charset="0"/>
                <a:ea typeface="Calibri" pitchFamily="34" charset="-122"/>
                <a:cs typeface="Calibri" pitchFamily="34" charset="-120"/>
              </a:rPr>
              <a:t>Controls that follow from it</a:t>
            </a:r>
            <a:endParaRPr lang="en-US" sz="1400" dirty="0"/>
          </a:p>
        </p:txBody>
      </p:sp>
      <p:sp>
        <p:nvSpPr>
          <p:cNvPr id="10" name="Text 7"/>
          <p:cNvSpPr txBox="1"/>
          <p:nvPr/>
        </p:nvSpPr>
        <p:spPr>
          <a:xfrm>
            <a:off x="5029200" y="2423160"/>
            <a:ext cx="3474720" cy="208483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AI cannot advance a state or send a message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Every generated claim cites its source sentence</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Rules can raise severity, never lower it</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Auto-sign-off disabled on serious items</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Override reasons read by a human weekly</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Row-level security at the database, not the app</a:t>
            </a:r>
            <a:endParaRPr lang="en-US" sz="1100" dirty="0"/>
          </a:p>
          <a:p>
            <a:pPr marL="342900" indent="-342900">
              <a:spcAft>
                <a:spcPts val="400"/>
              </a:spcAft>
              <a:buSzPct val="100000"/>
              <a:buChar char="•"/>
            </a:pPr>
            <a:r>
              <a:rPr lang="en-US" sz="1100" dirty="0">
                <a:solidFill>
                  <a:srgbClr val="1F2A44"/>
                </a:solidFill>
                <a:latin typeface="Calibri" pitchFamily="34" charset="0"/>
                <a:ea typeface="Calibri" pitchFamily="34" charset="-122"/>
                <a:cs typeface="Calibri" pitchFamily="34" charset="-120"/>
              </a:rPr>
              <a:t>Identifiers stripped before the API call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263F"/>
        </a:solidFill>
      </p:bgPr>
    </p:bg>
    <p:spTree>
      <p:nvGrpSpPr>
        <p:cNvPr id="1" name=""/>
        <p:cNvGrpSpPr/>
        <p:nvPr/>
      </p:nvGrpSpPr>
      <p:grpSpPr>
        <a:xfrm>
          <a:off x="0" y="0"/>
          <a:ext cx="0" cy="0"/>
          <a:chOff x="0" y="0"/>
          <a:chExt cx="0" cy="0"/>
        </a:xfrm>
      </p:grpSpPr>
      <p:sp>
        <p:nvSpPr>
          <p:cNvPr id="2" name="Text 0"/>
          <p:cNvSpPr txBox="1"/>
          <p:nvPr/>
        </p:nvSpPr>
        <p:spPr>
          <a:xfrm>
            <a:off x="502920" y="640080"/>
            <a:ext cx="8138160" cy="274320"/>
          </a:xfrm>
          <a:prstGeom prst="rect">
            <a:avLst/>
          </a:prstGeom>
          <a:noFill/>
          <a:ln/>
        </p:spPr>
        <p:txBody>
          <a:bodyPr wrap="square" rtlCol="0" anchor="ctr"/>
          <a:lstStyle/>
          <a:p>
            <a:pPr indent="0" marL="0">
              <a:buNone/>
            </a:pPr>
            <a:r>
              <a:rPr lang="en-US" sz="1300" b="1" spc="200" kern="0" dirty="0">
                <a:solidFill>
                  <a:srgbClr val="7FB3BC"/>
                </a:solidFill>
                <a:latin typeface="Calibri" pitchFamily="34" charset="0"/>
                <a:ea typeface="Calibri" pitchFamily="34" charset="-122"/>
                <a:cs typeface="Calibri" pitchFamily="34" charset="-120"/>
              </a:rPr>
              <a:t>RECOMMENDATION</a:t>
            </a:r>
            <a:endParaRPr lang="en-US" sz="1300" dirty="0"/>
          </a:p>
        </p:txBody>
      </p:sp>
      <p:sp>
        <p:nvSpPr>
          <p:cNvPr id="3" name="Text 1"/>
          <p:cNvSpPr txBox="1"/>
          <p:nvPr/>
        </p:nvSpPr>
        <p:spPr>
          <a:xfrm>
            <a:off x="502920" y="960120"/>
            <a:ext cx="8138160" cy="685800"/>
          </a:xfrm>
          <a:prstGeom prst="rect">
            <a:avLst/>
          </a:prstGeom>
          <a:noFill/>
          <a:ln/>
        </p:spPr>
        <p:txBody>
          <a:bodyPr wrap="square"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Pilot. Five campuses, one academic month, assist-only.</a:t>
            </a:r>
            <a:endParaRPr lang="en-US" sz="2700" dirty="0"/>
          </a:p>
        </p:txBody>
      </p:sp>
      <p:sp>
        <p:nvSpPr>
          <p:cNvPr id="4" name="Text 2"/>
          <p:cNvSpPr txBox="1"/>
          <p:nvPr/>
        </p:nvSpPr>
        <p:spPr>
          <a:xfrm>
            <a:off x="502920" y="1755648"/>
            <a:ext cx="8138160" cy="502920"/>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Scale the deterministic platform across all 40 campuses in parallel. Do not extend AI into exam approval, student-facing communication or staff evaluation until the gates are met.</a:t>
            </a:r>
            <a:endParaRPr lang="en-US" sz="1300" dirty="0"/>
          </a:p>
        </p:txBody>
      </p:sp>
      <p:sp>
        <p:nvSpPr>
          <p:cNvPr id="5" name="Shape 3"/>
          <p:cNvSpPr/>
          <p:nvPr/>
        </p:nvSpPr>
        <p:spPr>
          <a:xfrm>
            <a:off x="502920" y="2377440"/>
            <a:ext cx="3977640" cy="1783080"/>
          </a:xfrm>
          <a:prstGeom prst="roundRect">
            <a:avLst>
              <a:gd name="adj" fmla="val 2564"/>
            </a:avLst>
          </a:prstGeom>
          <a:solidFill>
            <a:srgbClr val="1E3352"/>
          </a:solidFill>
          <a:ln w="12700">
            <a:solidFill>
              <a:srgbClr val="2C4A6E"/>
            </a:solidFill>
            <a:prstDash val="solid"/>
          </a:ln>
        </p:spPr>
      </p:sp>
      <p:sp>
        <p:nvSpPr>
          <p:cNvPr id="6" name="Text 4"/>
          <p:cNvSpPr txBox="1"/>
          <p:nvPr/>
        </p:nvSpPr>
        <p:spPr>
          <a:xfrm>
            <a:off x="704088" y="2505456"/>
            <a:ext cx="3657600" cy="274320"/>
          </a:xfrm>
          <a:prstGeom prst="rect">
            <a:avLst/>
          </a:prstGeom>
          <a:noFill/>
          <a:ln/>
        </p:spPr>
        <p:txBody>
          <a:bodyPr wrap="square" lIns="0" tIns="0" rIns="0" bIns="0" rtlCol="0" anchor="ctr"/>
          <a:lstStyle/>
          <a:p>
            <a:pPr indent="0" marL="0">
              <a:buNone/>
            </a:pPr>
            <a:r>
              <a:rPr lang="en-US" sz="1300" b="1" dirty="0">
                <a:solidFill>
                  <a:srgbClr val="7FB3BC"/>
                </a:solidFill>
                <a:latin typeface="Calibri" pitchFamily="34" charset="0"/>
                <a:ea typeface="Calibri" pitchFamily="34" charset="-122"/>
                <a:cs typeface="Calibri" pitchFamily="34" charset="-120"/>
              </a:rPr>
              <a:t>We expand when</a:t>
            </a:r>
            <a:endParaRPr lang="en-US" sz="1300" dirty="0"/>
          </a:p>
        </p:txBody>
      </p:sp>
      <p:sp>
        <p:nvSpPr>
          <p:cNvPr id="7" name="Text 5"/>
          <p:cNvSpPr txBox="1"/>
          <p:nvPr/>
        </p:nvSpPr>
        <p:spPr>
          <a:xfrm>
            <a:off x="704088" y="2816352"/>
            <a:ext cx="3657600" cy="12344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Recall holds at 0.90 for four weeks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Ungrounded statements stay under 2%</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Override rate sits inside 10–25%</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Reviewers say the queue changed their order</a:t>
            </a:r>
            <a:endParaRPr lang="en-US" sz="1200" dirty="0"/>
          </a:p>
        </p:txBody>
      </p:sp>
      <p:sp>
        <p:nvSpPr>
          <p:cNvPr id="8" name="Shape 6"/>
          <p:cNvSpPr/>
          <p:nvPr/>
        </p:nvSpPr>
        <p:spPr>
          <a:xfrm>
            <a:off x="4709160" y="2377440"/>
            <a:ext cx="3977640" cy="1783080"/>
          </a:xfrm>
          <a:prstGeom prst="roundRect">
            <a:avLst>
              <a:gd name="adj" fmla="val 2564"/>
            </a:avLst>
          </a:prstGeom>
          <a:solidFill>
            <a:srgbClr val="1E3352"/>
          </a:solidFill>
          <a:ln w="12700">
            <a:solidFill>
              <a:srgbClr val="2C4A6E"/>
            </a:solidFill>
            <a:prstDash val="solid"/>
          </a:ln>
        </p:spPr>
      </p:sp>
      <p:sp>
        <p:nvSpPr>
          <p:cNvPr id="9" name="Text 7"/>
          <p:cNvSpPr txBox="1"/>
          <p:nvPr/>
        </p:nvSpPr>
        <p:spPr>
          <a:xfrm>
            <a:off x="4910328" y="2505456"/>
            <a:ext cx="3657600" cy="274320"/>
          </a:xfrm>
          <a:prstGeom prst="rect">
            <a:avLst/>
          </a:prstGeom>
          <a:noFill/>
          <a:ln/>
        </p:spPr>
        <p:txBody>
          <a:bodyPr wrap="square" lIns="0" tIns="0" rIns="0" bIns="0" rtlCol="0" anchor="ctr"/>
          <a:lstStyle/>
          <a:p>
            <a:pPr indent="0" marL="0">
              <a:buNone/>
            </a:pPr>
            <a:r>
              <a:rPr lang="en-US" sz="1300" b="1" dirty="0">
                <a:solidFill>
                  <a:srgbClr val="E8B4A0"/>
                </a:solidFill>
                <a:latin typeface="Calibri" pitchFamily="34" charset="0"/>
                <a:ea typeface="Calibri" pitchFamily="34" charset="-122"/>
                <a:cs typeface="Calibri" pitchFamily="34" charset="-120"/>
              </a:rPr>
              <a:t>We stop when</a:t>
            </a:r>
            <a:endParaRPr lang="en-US" sz="1300" dirty="0"/>
          </a:p>
        </p:txBody>
      </p:sp>
      <p:sp>
        <p:nvSpPr>
          <p:cNvPr id="10" name="Text 8"/>
          <p:cNvSpPr txBox="1"/>
          <p:nvPr/>
        </p:nvSpPr>
        <p:spPr>
          <a:xfrm>
            <a:off x="4910328" y="2816352"/>
            <a:ext cx="3657600" cy="12344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Any cross-campus data exposure, even once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Ungrounded statements above 5%</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Override rate below 10% — rubber-stamping</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Anyone proposes using it to rate staff</a:t>
            </a:r>
            <a:endParaRPr lang="en-US" sz="1200" dirty="0"/>
          </a:p>
        </p:txBody>
      </p:sp>
      <p:sp>
        <p:nvSpPr>
          <p:cNvPr id="11" name="Text 9"/>
          <p:cNvSpPr txBox="1"/>
          <p:nvPr/>
        </p:nvSpPr>
        <p:spPr>
          <a:xfrm>
            <a:off x="502920" y="4297680"/>
            <a:ext cx="8138160" cy="365760"/>
          </a:xfrm>
          <a:prstGeom prst="rect">
            <a:avLst/>
          </a:prstGeom>
          <a:noFill/>
          <a:ln/>
        </p:spPr>
        <p:txBody>
          <a:bodyPr wrap="square" rtlCol="0" anchor="ctr"/>
          <a:lstStyle/>
          <a:p>
            <a:pPr algn="ctr" indent="0" marL="0">
              <a:buNone/>
            </a:pPr>
            <a:r>
              <a:rPr lang="en-US" sz="1200" i="1" dirty="0">
                <a:solidFill>
                  <a:srgbClr val="8FA3BF"/>
                </a:solidFill>
                <a:latin typeface="Calibri" pitchFamily="34" charset="0"/>
                <a:ea typeface="Calibri" pitchFamily="34" charset="-122"/>
                <a:cs typeface="Calibri" pitchFamily="34" charset="-120"/>
              </a:rPr>
              <a:t>A team that can say precisely what would make them stop is a team worth funding.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UniConnect Operations OS — MBA ZG583 Capstone</dc:title>
  <dc:subject>PptxGenJS Presentation</dc:subject>
  <dc:creator>Manoj Kumar Panchothi</dc:creator>
  <cp:lastModifiedBy>Manoj Kumar Panchothi</cp:lastModifiedBy>
  <cp:revision>1</cp:revision>
  <dcterms:created xsi:type="dcterms:W3CDTF">2026-09-12T13:55:57Z</dcterms:created>
  <dcterms:modified xsi:type="dcterms:W3CDTF">2026-09-12T13:55:57Z</dcterms:modified>
</cp:coreProperties>
</file>